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9" r:id="rId1"/>
  </p:sldMasterIdLst>
  <p:notesMasterIdLst>
    <p:notesMasterId r:id="rId29"/>
  </p:notesMasterIdLst>
  <p:sldIdLst>
    <p:sldId id="256" r:id="rId2"/>
    <p:sldId id="258" r:id="rId3"/>
    <p:sldId id="291" r:id="rId4"/>
    <p:sldId id="270" r:id="rId5"/>
    <p:sldId id="27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261" r:id="rId16"/>
    <p:sldId id="301" r:id="rId17"/>
    <p:sldId id="302" r:id="rId18"/>
    <p:sldId id="303" r:id="rId19"/>
    <p:sldId id="304" r:id="rId20"/>
    <p:sldId id="305" r:id="rId21"/>
    <p:sldId id="306" r:id="rId22"/>
    <p:sldId id="307" r:id="rId23"/>
    <p:sldId id="311" r:id="rId24"/>
    <p:sldId id="309" r:id="rId25"/>
    <p:sldId id="312" r:id="rId26"/>
    <p:sldId id="313" r:id="rId27"/>
    <p:sldId id="314" r:id="rId2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812B"/>
    <a:srgbClr val="3274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747DB9-D44C-3645-A8C5-4C1AC78B88F9}" v="499" dt="2025-11-04T14:55:35.4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98"/>
    <p:restoredTop sz="74405"/>
  </p:normalViewPr>
  <p:slideViewPr>
    <p:cSldViewPr snapToGrid="0">
      <p:cViewPr varScale="1">
        <p:scale>
          <a:sx n="72" d="100"/>
          <a:sy n="72" d="100"/>
        </p:scale>
        <p:origin x="232" y="1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6BEED5-3784-4140-825B-F8E8B2120ED8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551F75-7480-0F40-9C37-2250B53EAD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6027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Place </a:t>
            </a:r>
            <a:r>
              <a:rPr lang="fr-FR" dirty="0" err="1"/>
              <a:t>cells</a:t>
            </a:r>
            <a:r>
              <a:rPr lang="fr-FR" dirty="0"/>
              <a:t> focus -&gt; animal -&gt; </a:t>
            </a:r>
            <a:r>
              <a:rPr lang="fr-FR" dirty="0" err="1"/>
              <a:t>study</a:t>
            </a:r>
            <a:r>
              <a:rPr lang="fr-FR" dirty="0"/>
              <a:t> </a:t>
            </a:r>
            <a:r>
              <a:rPr lang="fr-FR" dirty="0" err="1"/>
              <a:t>this</a:t>
            </a:r>
            <a:r>
              <a:rPr lang="fr-FR" dirty="0"/>
              <a:t> in </a:t>
            </a:r>
            <a:r>
              <a:rPr lang="fr-FR" dirty="0" err="1"/>
              <a:t>human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51F75-7480-0F40-9C37-2250B53EAD2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2996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0F496-E98F-4F74-6625-285DCB1B9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59BE538-7EE5-F193-D823-A9F3D6A39F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B1AF779-FB94-B450-B4DB-5E9E7F3E8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Place </a:t>
            </a:r>
            <a:r>
              <a:rPr lang="fr-FR" dirty="0" err="1"/>
              <a:t>cells</a:t>
            </a:r>
            <a:r>
              <a:rPr lang="fr-FR" dirty="0"/>
              <a:t> focus -&gt; animal -&gt; </a:t>
            </a:r>
            <a:r>
              <a:rPr lang="fr-FR" dirty="0" err="1"/>
              <a:t>study</a:t>
            </a:r>
            <a:r>
              <a:rPr lang="fr-FR" dirty="0"/>
              <a:t> </a:t>
            </a:r>
            <a:r>
              <a:rPr lang="fr-FR" dirty="0" err="1"/>
              <a:t>this</a:t>
            </a:r>
            <a:r>
              <a:rPr lang="fr-FR" dirty="0"/>
              <a:t> in </a:t>
            </a:r>
            <a:r>
              <a:rPr lang="fr-FR" dirty="0" err="1"/>
              <a:t>human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7DA6A58-9232-89E2-33FC-05D4DF0DA4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51F75-7480-0F40-9C37-2250B53EAD28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1040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Talk about the memory </a:t>
            </a:r>
            <a:r>
              <a:rPr lang="fr-FR" dirty="0" err="1"/>
              <a:t>task</a:t>
            </a:r>
            <a:r>
              <a:rPr lang="fr-FR" dirty="0"/>
              <a:t> </a:t>
            </a:r>
            <a:r>
              <a:rPr lang="fr-FR" dirty="0" err="1"/>
              <a:t>outside</a:t>
            </a:r>
            <a:r>
              <a:rPr lang="fr-FR" dirty="0"/>
              <a:t> of </a:t>
            </a:r>
            <a:r>
              <a:rPr lang="fr-FR" dirty="0" err="1"/>
              <a:t>fmri</a:t>
            </a:r>
            <a:r>
              <a:rPr lang="fr-FR" dirty="0"/>
              <a:t> -&gt; </a:t>
            </a:r>
            <a:r>
              <a:rPr lang="fr-FR" dirty="0" err="1"/>
              <a:t>judgments</a:t>
            </a:r>
            <a:r>
              <a:rPr lang="fr-FR" dirty="0"/>
              <a:t> of distance and temporal </a:t>
            </a:r>
          </a:p>
          <a:p>
            <a:endParaRPr lang="fr-FR" dirty="0"/>
          </a:p>
          <a:p>
            <a:r>
              <a:rPr lang="fr-FR" dirty="0"/>
              <a:t>AVOID </a:t>
            </a:r>
            <a:r>
              <a:rPr lang="fr-FR" dirty="0" err="1"/>
              <a:t>strong</a:t>
            </a:r>
            <a:r>
              <a:rPr lang="fr-FR" dirty="0"/>
              <a:t> activation </a:t>
            </a:r>
            <a:r>
              <a:rPr lang="fr-FR" dirty="0" err="1"/>
              <a:t>hippocampus</a:t>
            </a:r>
            <a:r>
              <a:rPr lang="fr-FR" dirty="0"/>
              <a:t> to new</a:t>
            </a:r>
          </a:p>
          <a:p>
            <a:r>
              <a:rPr lang="fr-FR" dirty="0"/>
              <a:t>Relevance </a:t>
            </a:r>
            <a:r>
              <a:rPr lang="fr-FR" dirty="0" err="1"/>
              <a:t>allow</a:t>
            </a:r>
            <a:r>
              <a:rPr lang="fr-FR" dirty="0"/>
              <a:t> to select information </a:t>
            </a:r>
          </a:p>
          <a:p>
            <a:r>
              <a:rPr lang="fr-FR" dirty="0"/>
              <a:t>USE </a:t>
            </a:r>
            <a:r>
              <a:rPr lang="fr-FR" dirty="0" err="1"/>
              <a:t>Task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51F75-7480-0F40-9C37-2250B53EAD2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5080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Specify</a:t>
            </a:r>
            <a:r>
              <a:rPr lang="fr-FR" dirty="0"/>
              <a:t> </a:t>
            </a:r>
            <a:r>
              <a:rPr lang="fr-FR" dirty="0" err="1"/>
              <a:t>difference</a:t>
            </a:r>
            <a:r>
              <a:rPr lang="fr-FR" dirty="0"/>
              <a:t> in distance </a:t>
            </a:r>
            <a:r>
              <a:rPr lang="fr-FR" dirty="0" err="1"/>
              <a:t>judgements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51F75-7480-0F40-9C37-2250B53EAD28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7005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Presentation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Plan</a:t>
            </a:r>
            <a:endParaRPr lang="fr-CH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fr-CH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C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Small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Reintroduction</a:t>
            </a:r>
            <a:endParaRPr lang="fr-CH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C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Focus on memory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-&gt;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judgment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distances</a:t>
            </a:r>
            <a:endParaRPr lang="fr-CH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C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Reminder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RSA</a:t>
            </a:r>
            <a:endParaRPr lang="fr-CH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C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Further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Analysis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Old vs. New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derivatives</a:t>
            </a:r>
            <a:endParaRPr lang="fr-CH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C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Calculation of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Judgment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distances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Selection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Postive</a:t>
            </a:r>
            <a:endParaRPr lang="fr-CH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C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Confidence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Analysis</a:t>
            </a:r>
            <a:endParaRPr lang="fr-CH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C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Reproduction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Deuker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al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endParaRPr lang="fr-CH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C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approaches</a:t>
            </a:r>
            <a:endParaRPr lang="fr-CH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C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Euclidean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distance</a:t>
            </a:r>
            <a:endParaRPr lang="fr-CH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C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Separation</a:t>
            </a:r>
            <a:r>
              <a:rPr lang="fr-C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positive </a:t>
            </a:r>
            <a:r>
              <a:rPr lang="fr-CH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negative</a:t>
            </a:r>
            <a:endParaRPr lang="fr-CH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C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Conclusions</a:t>
            </a:r>
            <a:endParaRPr lang="fr-CH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C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Future Directions</a:t>
            </a:r>
            <a:endParaRPr lang="fr-CH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51F75-7480-0F40-9C37-2250B53EAD28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9193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3C7DC-767A-D7C6-E26A-20297BE67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2C18FAA-3F98-227B-6BCC-1A3FCB8C2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CDE1E57-0336-A9EC-8675-7F4BDEFD1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DD4789-B5A6-E813-0AA9-7190FB6D70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51F75-7480-0F40-9C37-2250B53EAD28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1996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C2E0-BE4A-B443-B982-203EAEAA1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780D98D-C75D-00A9-56C5-8B36C9F2B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54A8222-2A86-50EA-494D-A534C53CA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Specify</a:t>
            </a:r>
            <a:r>
              <a:rPr lang="fr-FR" dirty="0"/>
              <a:t> </a:t>
            </a:r>
            <a:r>
              <a:rPr lang="fr-FR" dirty="0" err="1"/>
              <a:t>difference</a:t>
            </a:r>
            <a:r>
              <a:rPr lang="fr-FR" dirty="0"/>
              <a:t> in distance </a:t>
            </a:r>
            <a:r>
              <a:rPr lang="fr-FR" dirty="0" err="1"/>
              <a:t>judgements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1CF18B-EC15-DAD0-845B-C2C13C9338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51F75-7480-0F40-9C37-2250B53EAD28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25141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Euclidian</a:t>
            </a:r>
            <a:r>
              <a:rPr lang="fr-FR" dirty="0"/>
              <a:t> Distance for RDM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51F75-7480-0F40-9C37-2250B53EAD28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40796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A154C-CDD2-177B-FCA5-8C9248E33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566B9B7-4C93-FC8C-60ED-4CB7C632A3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1D9FB5E-881A-CAAF-2FA7-5BD84E14AD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Euclidian</a:t>
            </a:r>
            <a:r>
              <a:rPr lang="fr-FR" dirty="0"/>
              <a:t> Distance for RDM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A4E3699-073E-BB65-363E-3AD69B59A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51F75-7480-0F40-9C37-2250B53EAD28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44925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EA44A-B452-29C8-5EC9-49CFB3450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39AB148-E91B-8121-92DE-CB0188FA32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2EF114C-CBCD-BD6E-4999-48AF0E636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Euclidian</a:t>
            </a:r>
            <a:r>
              <a:rPr lang="fr-FR" dirty="0"/>
              <a:t> Distance for RDM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B5DC0-97E5-CDCC-3AC3-C7FB21BCFE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51F75-7480-0F40-9C37-2250B53EAD28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09979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46979-ACCB-9F65-DF1D-D188F348C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AE7561B-D9A7-288F-905C-B3163C5AAF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6F1AF9A-A5F0-E36A-4D14-219363426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Euclidian</a:t>
            </a:r>
            <a:r>
              <a:rPr lang="fr-FR" dirty="0"/>
              <a:t> Distance for RDM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6626BEF-7DE2-5790-F373-741955770E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51F75-7480-0F40-9C37-2250B53EAD28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60036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F64EA-B4BD-AAB8-AB61-E733C4A02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4E40A78-92E6-7F42-E812-B6260DE45C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1F80CB9-6B39-4290-7D03-72A7D7242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Euclidian</a:t>
            </a:r>
            <a:r>
              <a:rPr lang="fr-FR" dirty="0"/>
              <a:t> Distance for RDM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BEDF60-ED9E-5D03-1DB2-3131CCC33D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51F75-7480-0F40-9C37-2250B53EAD28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63701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BA7B9-16B0-B5D5-EFB5-99BBE6E65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BE2361C-847C-79EE-7D77-B2C1ABDD8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3FA4DEF-558D-1E99-B791-73E4010D3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Euclidian</a:t>
            </a:r>
            <a:r>
              <a:rPr lang="fr-FR" dirty="0"/>
              <a:t> Distance for RDM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672ED57-F420-CCCC-66FA-8EBC2211FC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51F75-7480-0F40-9C37-2250B53EAD28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771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E38DE-D590-67B6-5954-CF75DDED0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4ECC451-C14E-6582-7407-5044AA27F8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0E7C399-D712-3C82-1413-1E7B07DE5A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Euclidian</a:t>
            </a:r>
            <a:r>
              <a:rPr lang="fr-FR" dirty="0"/>
              <a:t> Distance for RDM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82870F-3CBC-D7D7-B00C-4340BECFA4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51F75-7480-0F40-9C37-2250B53EAD28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26919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CD8F8-8C1E-5275-7320-0C6C63215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FA90B22-03A2-BF7C-42D0-907EEE6E7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2ADA198-C7E6-F474-2891-2E966E239E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Euclidian</a:t>
            </a:r>
            <a:r>
              <a:rPr lang="fr-FR" dirty="0"/>
              <a:t> Distance for RDM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FF498A-538E-4F81-25FC-2F28B67C29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51F75-7480-0F40-9C37-2250B53EAD28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25579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6968D-BF36-3C0B-1A77-C92AAD760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0D0CE20-1158-2CAA-2C47-5DC137F5C7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CC8B7A9-253F-057F-BE06-81AC30DDA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Euclidian</a:t>
            </a:r>
            <a:r>
              <a:rPr lang="fr-FR" dirty="0"/>
              <a:t> Distance for RDM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FE0E3F8-381D-8FDA-69C6-174709ECB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51F75-7480-0F40-9C37-2250B53EAD28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92591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05D24-82A5-306F-AF95-0FFE1FBA7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D4EF009-553B-0673-0FE9-3FA2E7236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D2C875B-1169-D815-8912-43BA5A0EC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Euclidian</a:t>
            </a:r>
            <a:r>
              <a:rPr lang="fr-FR" dirty="0"/>
              <a:t> Distance for RDM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BDE5D3-7059-591D-0CC7-B9E5AD6B6E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51F75-7480-0F40-9C37-2250B53EAD28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23918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51F75-7480-0F40-9C37-2250B53EAD28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78778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551F75-7480-0F40-9C37-2250B53EAD28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3205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58D1A-C070-AB4A-8924-AD33CE9329B1}" type="datetime1">
              <a:rPr lang="fr-CH" smtClean="0"/>
              <a:t>04.11.25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96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41895-04F9-9A4D-A830-F72226F95D7C}" type="datetime1">
              <a:rPr lang="fr-CH" smtClean="0"/>
              <a:t>04.11.25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059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E8EF6-7165-E145-85DF-2F4C9E727C84}" type="datetime1">
              <a:rPr lang="fr-CH" smtClean="0"/>
              <a:t>04.11.25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303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5550B-7C15-0E49-8515-1F12F6989BD5}" type="datetime1">
              <a:rPr lang="fr-CH" smtClean="0"/>
              <a:t>04.11.25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764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BDED-190C-F048-BB90-AB28EB37E918}" type="datetime1">
              <a:rPr lang="fr-CH" smtClean="0"/>
              <a:t>04.11.25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905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A07B8-372E-3245-B2B8-D66727035435}" type="datetime1">
              <a:rPr lang="fr-CH" smtClean="0"/>
              <a:t>04.11.25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861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CD684-80C7-3B49-85A9-B60E53A6BE51}" type="datetime1">
              <a:rPr lang="fr-CH" smtClean="0"/>
              <a:t>04.11.25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47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B3088-9C85-824D-A3C0-059F2B3A0A78}" type="datetime1">
              <a:rPr lang="fr-CH" smtClean="0"/>
              <a:t>04.11.25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279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CBE69-1284-264C-A176-AEA09157F522}" type="datetime1">
              <a:rPr lang="fr-CH" smtClean="0"/>
              <a:t>04.11.25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467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E26E1-3C70-574C-8198-737854EE3EDC}" type="datetime1">
              <a:rPr lang="fr-CH" smtClean="0"/>
              <a:t>04.11.25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179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75273-A58A-5746-BDBD-1597C20DAB53}" type="datetime1">
              <a:rPr lang="fr-CH" smtClean="0"/>
              <a:t>04.11.25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785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9B2B84D7-7258-CF4F-AF1C-5DEF365D0B1C}" type="datetime1">
              <a:rPr lang="fr-CH" smtClean="0"/>
              <a:t>04.11.25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248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8" r:id="rId6"/>
    <p:sldLayoutId id="2147483693" r:id="rId7"/>
    <p:sldLayoutId id="2147483694" r:id="rId8"/>
    <p:sldLayoutId id="2147483695" r:id="rId9"/>
    <p:sldLayoutId id="2147483697" r:id="rId10"/>
    <p:sldLayoutId id="2147483696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5F5354A-20C6-5A11-9FE2-BAA193F2D8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pPr fontAlgn="base">
              <a:lnSpc>
                <a:spcPct val="90000"/>
              </a:lnSpc>
            </a:pPr>
            <a:r>
              <a:rPr lang="fr-CH" sz="3800" dirty="0"/>
              <a:t>The </a:t>
            </a:r>
            <a:r>
              <a:rPr lang="fr-CH" sz="3800" dirty="0" err="1"/>
              <a:t>role</a:t>
            </a:r>
            <a:r>
              <a:rPr lang="fr-CH" sz="3800" dirty="0"/>
              <a:t> of the </a:t>
            </a:r>
            <a:r>
              <a:rPr lang="fr-CH" sz="3800" dirty="0" err="1"/>
              <a:t>hippocampus</a:t>
            </a:r>
            <a:r>
              <a:rPr lang="fr-CH" sz="3800" dirty="0"/>
              <a:t> in </a:t>
            </a:r>
            <a:r>
              <a:rPr lang="fr-CH" sz="3800" dirty="0" err="1"/>
              <a:t>tracking</a:t>
            </a:r>
            <a:r>
              <a:rPr lang="fr-CH" sz="3800" dirty="0"/>
              <a:t> </a:t>
            </a:r>
            <a:r>
              <a:rPr lang="fr-CH" sz="3800" dirty="0" err="1"/>
              <a:t>personal</a:t>
            </a:r>
            <a:r>
              <a:rPr lang="fr-CH" sz="3800" dirty="0"/>
              <a:t> goals</a:t>
            </a:r>
            <a:br>
              <a:rPr lang="fr-CH" sz="3800" dirty="0"/>
            </a:br>
            <a:endParaRPr lang="fr-FR" sz="38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8728B53-DE07-997D-9901-CD5AFF942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4785543"/>
            <a:ext cx="4857857" cy="1005657"/>
          </a:xfrm>
        </p:spPr>
        <p:txBody>
          <a:bodyPr>
            <a:normAutofit/>
          </a:bodyPr>
          <a:lstStyle/>
          <a:p>
            <a:r>
              <a:rPr lang="fr-FR" dirty="0" err="1"/>
              <a:t>Supervisors</a:t>
            </a:r>
            <a:r>
              <a:rPr lang="fr-FR" dirty="0"/>
              <a:t>: Prof. Dimitri Van De Ville, Dr. Giulia Preti, Dr. Alison </a:t>
            </a:r>
            <a:r>
              <a:rPr lang="fr-FR" dirty="0" err="1"/>
              <a:t>Montagrin</a:t>
            </a:r>
            <a:endParaRPr lang="fr-F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B7067BEA-4224-360D-CB9B-F36B05BB815E}"/>
              </a:ext>
            </a:extLst>
          </p:cNvPr>
          <p:cNvSpPr txBox="1"/>
          <p:nvPr/>
        </p:nvSpPr>
        <p:spPr>
          <a:xfrm>
            <a:off x="800100" y="6292335"/>
            <a:ext cx="1952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Final </a:t>
            </a:r>
            <a:r>
              <a:rPr lang="fr-FR" dirty="0" err="1"/>
              <a:t>presentation</a:t>
            </a: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FA4C67C-8754-274E-0EDB-3DE9BEC3DB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63" t="8629" r="27046" b="17358"/>
          <a:stretch>
            <a:fillRect/>
          </a:stretch>
        </p:blipFill>
        <p:spPr>
          <a:xfrm>
            <a:off x="6096000" y="10"/>
            <a:ext cx="7204364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409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6F17D7-9DDA-7746-8A65-0CC0C7C2E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Background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C51C1C3-4591-16CE-E3DB-E2EA3135D71B}"/>
              </a:ext>
            </a:extLst>
          </p:cNvPr>
          <p:cNvSpPr txBox="1"/>
          <p:nvPr/>
        </p:nvSpPr>
        <p:spPr>
          <a:xfrm>
            <a:off x="803189" y="6252519"/>
            <a:ext cx="6376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 err="1"/>
              <a:t>O'Keefe</a:t>
            </a:r>
            <a:r>
              <a:rPr lang="fr-CH" dirty="0"/>
              <a:t> et al. 1971, </a:t>
            </a:r>
            <a:r>
              <a:rPr lang="fr-CH" dirty="0" err="1"/>
              <a:t>Hafting</a:t>
            </a:r>
            <a:r>
              <a:rPr lang="fr-CH" dirty="0"/>
              <a:t> et al. 2005, MacDonald et al. 2011 </a:t>
            </a:r>
            <a:endParaRPr lang="fr-FR" dirty="0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D552AD52-0A0F-F47C-4AAC-AE13EB8B2C35}"/>
              </a:ext>
            </a:extLst>
          </p:cNvPr>
          <p:cNvGrpSpPr/>
          <p:nvPr/>
        </p:nvGrpSpPr>
        <p:grpSpPr>
          <a:xfrm>
            <a:off x="1241809" y="2249546"/>
            <a:ext cx="2844249" cy="3052459"/>
            <a:chOff x="1241809" y="2249546"/>
            <a:chExt cx="2844249" cy="3052459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F1ED84CF-4DA1-4B38-BF1F-CD393D5BE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1809" y="4206893"/>
              <a:ext cx="2844249" cy="1095112"/>
            </a:xfrm>
            <a:prstGeom prst="rect">
              <a:avLst/>
            </a:prstGeom>
          </p:spPr>
        </p:pic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97C3B758-D67A-7536-A531-FFA73E445207}"/>
                </a:ext>
              </a:extLst>
            </p:cNvPr>
            <p:cNvSpPr txBox="1"/>
            <p:nvPr/>
          </p:nvSpPr>
          <p:spPr>
            <a:xfrm>
              <a:off x="1344363" y="3089978"/>
              <a:ext cx="26228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Place </a:t>
              </a:r>
              <a:r>
                <a:rPr lang="fr-FR" dirty="0" err="1"/>
                <a:t>Cells</a:t>
              </a:r>
              <a:r>
                <a:rPr lang="fr-FR" dirty="0"/>
                <a:t> &amp; </a:t>
              </a:r>
              <a:r>
                <a:rPr lang="fr-FR" dirty="0" err="1"/>
                <a:t>Grid</a:t>
              </a:r>
              <a:r>
                <a:rPr lang="fr-FR" dirty="0"/>
                <a:t> </a:t>
              </a:r>
              <a:r>
                <a:rPr lang="fr-FR" dirty="0" err="1"/>
                <a:t>Cells</a:t>
              </a:r>
              <a:r>
                <a:rPr lang="fr-FR" dirty="0"/>
                <a:t> </a:t>
              </a: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70BA669E-AF5B-58D9-7241-84082D15D077}"/>
                </a:ext>
              </a:extLst>
            </p:cNvPr>
            <p:cNvSpPr txBox="1"/>
            <p:nvPr/>
          </p:nvSpPr>
          <p:spPr>
            <a:xfrm>
              <a:off x="1949973" y="2249546"/>
              <a:ext cx="10823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400" dirty="0"/>
                <a:t>Spatial</a:t>
              </a:r>
              <a:endParaRPr lang="fr-FR" dirty="0"/>
            </a:p>
          </p:txBody>
        </p:sp>
      </p:grpSp>
      <p:sp>
        <p:nvSpPr>
          <p:cNvPr id="10" name="ZoneTexte 9">
            <a:extLst>
              <a:ext uri="{FF2B5EF4-FFF2-40B4-BE49-F238E27FC236}">
                <a16:creationId xmlns:a16="http://schemas.microsoft.com/office/drawing/2014/main" id="{C867DA86-7F8E-0AFF-7198-A5181389ECB8}"/>
              </a:ext>
            </a:extLst>
          </p:cNvPr>
          <p:cNvSpPr txBox="1"/>
          <p:nvPr/>
        </p:nvSpPr>
        <p:spPr>
          <a:xfrm>
            <a:off x="4580726" y="1698772"/>
            <a:ext cx="2316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Hippocampus</a:t>
            </a:r>
            <a:endParaRPr lang="fr-FR" sz="2800" dirty="0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CA2012DA-D59A-14B9-70FF-49FD5D3DBAF9}"/>
              </a:ext>
            </a:extLst>
          </p:cNvPr>
          <p:cNvGrpSpPr/>
          <p:nvPr/>
        </p:nvGrpSpPr>
        <p:grpSpPr>
          <a:xfrm>
            <a:off x="7830687" y="2249546"/>
            <a:ext cx="3184242" cy="3694054"/>
            <a:chOff x="7830687" y="2249546"/>
            <a:chExt cx="3184242" cy="3694054"/>
          </a:xfrm>
        </p:grpSpPr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1513D2CF-4AC2-0B65-D9E2-CA61B21FE73C}"/>
                </a:ext>
              </a:extLst>
            </p:cNvPr>
            <p:cNvSpPr txBox="1"/>
            <p:nvPr/>
          </p:nvSpPr>
          <p:spPr>
            <a:xfrm>
              <a:off x="8613084" y="2249546"/>
              <a:ext cx="14321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400" dirty="0"/>
                <a:t>Temporal</a:t>
              </a:r>
              <a:endParaRPr lang="fr-FR" dirty="0"/>
            </a:p>
          </p:txBody>
        </p:sp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39DA9986-E087-00B1-A30D-70D80DB9625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1089"/>
            <a:stretch>
              <a:fillRect/>
            </a:stretch>
          </p:blipFill>
          <p:spPr bwMode="auto">
            <a:xfrm>
              <a:off x="7830687" y="3595227"/>
              <a:ext cx="3184242" cy="23483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56CA60AB-135E-2949-8156-BCA2D2220362}"/>
                </a:ext>
              </a:extLst>
            </p:cNvPr>
            <p:cNvSpPr txBox="1"/>
            <p:nvPr/>
          </p:nvSpPr>
          <p:spPr>
            <a:xfrm>
              <a:off x="8676562" y="3089955"/>
              <a:ext cx="13051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Time </a:t>
              </a:r>
              <a:r>
                <a:rPr lang="fr-FR" dirty="0" err="1"/>
                <a:t>Cells</a:t>
              </a:r>
              <a:r>
                <a:rPr lang="fr-FR" dirty="0"/>
                <a:t> </a:t>
              </a:r>
            </a:p>
          </p:txBody>
        </p:sp>
      </p:grpSp>
      <p:pic>
        <p:nvPicPr>
          <p:cNvPr id="15" name="Picture 6" descr="Identité ‒ Organisation et identité ‐ EPFL">
            <a:extLst>
              <a:ext uri="{FF2B5EF4-FFF2-40B4-BE49-F238E27FC236}">
                <a16:creationId xmlns:a16="http://schemas.microsoft.com/office/drawing/2014/main" id="{DCC04A04-BEE1-8A35-D551-F102E1143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8178" y="170796"/>
            <a:ext cx="844979" cy="47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45F745EF-64D8-5AE4-EC84-CB5DBA81DE6A}"/>
              </a:ext>
            </a:extLst>
          </p:cNvPr>
          <p:cNvSpPr txBox="1"/>
          <p:nvPr/>
        </p:nvSpPr>
        <p:spPr>
          <a:xfrm>
            <a:off x="10066464" y="233628"/>
            <a:ext cx="13223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 </a:t>
            </a:r>
            <a:r>
              <a:rPr lang="fr-CH" dirty="0" err="1"/>
              <a:t>MIP:Lab</a:t>
            </a:r>
            <a:endParaRPr lang="fr-CH" dirty="0"/>
          </a:p>
          <a:p>
            <a:br>
              <a:rPr lang="fr-CH" dirty="0"/>
            </a:br>
            <a:endParaRPr lang="fr-CH" dirty="0"/>
          </a:p>
          <a:p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A727C33-A4FE-E497-A402-C593C3F92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809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3E0D4-60CB-D637-F482-1B960E68D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0A0479-D520-004D-CA36-448260CE4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Background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28C6970-637B-F814-4F64-60131B449445}"/>
              </a:ext>
            </a:extLst>
          </p:cNvPr>
          <p:cNvSpPr txBox="1"/>
          <p:nvPr/>
        </p:nvSpPr>
        <p:spPr>
          <a:xfrm>
            <a:off x="803189" y="6252519"/>
            <a:ext cx="6376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 err="1"/>
              <a:t>O'Keefe</a:t>
            </a:r>
            <a:r>
              <a:rPr lang="fr-CH" dirty="0"/>
              <a:t> et al. 1971, </a:t>
            </a:r>
            <a:r>
              <a:rPr lang="fr-CH" dirty="0" err="1"/>
              <a:t>Hafting</a:t>
            </a:r>
            <a:r>
              <a:rPr lang="fr-CH" dirty="0"/>
              <a:t> et al. 2005, MacDonald et al. 2011 </a:t>
            </a:r>
            <a:endParaRPr lang="fr-FR" dirty="0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D9B0ED37-2775-1F03-5017-E6459A04B226}"/>
              </a:ext>
            </a:extLst>
          </p:cNvPr>
          <p:cNvGrpSpPr/>
          <p:nvPr/>
        </p:nvGrpSpPr>
        <p:grpSpPr>
          <a:xfrm>
            <a:off x="4673875" y="2236060"/>
            <a:ext cx="2844249" cy="3052459"/>
            <a:chOff x="1241809" y="2249546"/>
            <a:chExt cx="2844249" cy="3052459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07E384DB-F3F2-BF25-B1A3-8BA410044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1809" y="4206893"/>
              <a:ext cx="2844249" cy="1095112"/>
            </a:xfrm>
            <a:prstGeom prst="rect">
              <a:avLst/>
            </a:prstGeom>
          </p:spPr>
        </p:pic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C67EDEF4-C2EB-8D04-64A7-7A7F9762AABE}"/>
                </a:ext>
              </a:extLst>
            </p:cNvPr>
            <p:cNvSpPr txBox="1"/>
            <p:nvPr/>
          </p:nvSpPr>
          <p:spPr>
            <a:xfrm>
              <a:off x="1344363" y="3089978"/>
              <a:ext cx="26228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Place </a:t>
              </a:r>
              <a:r>
                <a:rPr lang="fr-FR" dirty="0" err="1"/>
                <a:t>Cells</a:t>
              </a:r>
              <a:r>
                <a:rPr lang="fr-FR" dirty="0"/>
                <a:t> &amp; </a:t>
              </a:r>
              <a:r>
                <a:rPr lang="fr-FR" dirty="0" err="1"/>
                <a:t>Grid</a:t>
              </a:r>
              <a:r>
                <a:rPr lang="fr-FR" dirty="0"/>
                <a:t> </a:t>
              </a:r>
              <a:r>
                <a:rPr lang="fr-FR" dirty="0" err="1"/>
                <a:t>Cells</a:t>
              </a:r>
              <a:r>
                <a:rPr lang="fr-FR" dirty="0"/>
                <a:t> </a:t>
              </a: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6CBCBEA8-D7EC-A63E-012B-A9C63C55A4A8}"/>
                </a:ext>
              </a:extLst>
            </p:cNvPr>
            <p:cNvSpPr txBox="1"/>
            <p:nvPr/>
          </p:nvSpPr>
          <p:spPr>
            <a:xfrm>
              <a:off x="1949973" y="2249546"/>
              <a:ext cx="10823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400" dirty="0"/>
                <a:t>Spatial</a:t>
              </a:r>
              <a:endParaRPr lang="fr-FR" dirty="0"/>
            </a:p>
          </p:txBody>
        </p:sp>
      </p:grpSp>
      <p:pic>
        <p:nvPicPr>
          <p:cNvPr id="15" name="Picture 6" descr="Identité ‒ Organisation et identité ‐ EPFL">
            <a:extLst>
              <a:ext uri="{FF2B5EF4-FFF2-40B4-BE49-F238E27FC236}">
                <a16:creationId xmlns:a16="http://schemas.microsoft.com/office/drawing/2014/main" id="{315458B2-4B26-DEFF-0C0E-E73E4A6AE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8178" y="170796"/>
            <a:ext cx="844979" cy="47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9B38A1CC-7395-5912-4C4D-BB00B6F9A5AC}"/>
              </a:ext>
            </a:extLst>
          </p:cNvPr>
          <p:cNvSpPr txBox="1"/>
          <p:nvPr/>
        </p:nvSpPr>
        <p:spPr>
          <a:xfrm>
            <a:off x="10066464" y="233628"/>
            <a:ext cx="13223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 </a:t>
            </a:r>
            <a:r>
              <a:rPr lang="fr-CH" dirty="0" err="1"/>
              <a:t>MIP:Lab</a:t>
            </a:r>
            <a:endParaRPr lang="fr-CH" dirty="0"/>
          </a:p>
          <a:p>
            <a:br>
              <a:rPr lang="fr-CH" dirty="0"/>
            </a:br>
            <a:endParaRPr lang="fr-CH" dirty="0"/>
          </a:p>
          <a:p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48C239C-2E6D-BE4B-5AB9-E0F9ADAFA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20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78EE1A-C8F5-E455-711C-5C52C2154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The </a:t>
            </a:r>
            <a:r>
              <a:rPr lang="fr-FR" dirty="0" err="1"/>
              <a:t>island</a:t>
            </a:r>
            <a:r>
              <a:rPr lang="fr-FR" dirty="0"/>
              <a:t> </a:t>
            </a:r>
            <a:r>
              <a:rPr lang="fr-FR" dirty="0" err="1"/>
              <a:t>Experiment</a:t>
            </a:r>
            <a:r>
              <a:rPr lang="fr-FR" dirty="0"/>
              <a:t> : Intro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7020069-652F-C57E-C62F-CE9F57790C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37394" y="2454275"/>
            <a:ext cx="10617200" cy="3276600"/>
          </a:xfrm>
        </p:spPr>
      </p:pic>
      <p:pic>
        <p:nvPicPr>
          <p:cNvPr id="6" name="Picture 6" descr="Identité ‒ Organisation et identité ‐ EPFL">
            <a:extLst>
              <a:ext uri="{FF2B5EF4-FFF2-40B4-BE49-F238E27FC236}">
                <a16:creationId xmlns:a16="http://schemas.microsoft.com/office/drawing/2014/main" id="{2D9CFBF0-31C9-ACBE-7668-DF9803855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8178" y="170796"/>
            <a:ext cx="844979" cy="47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0A50184-0F01-DD6A-D2F0-75D9C0208B8D}"/>
              </a:ext>
            </a:extLst>
          </p:cNvPr>
          <p:cNvSpPr txBox="1"/>
          <p:nvPr/>
        </p:nvSpPr>
        <p:spPr>
          <a:xfrm>
            <a:off x="10066464" y="233628"/>
            <a:ext cx="13223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 </a:t>
            </a:r>
            <a:r>
              <a:rPr lang="fr-CH" dirty="0" err="1"/>
              <a:t>MIP:Lab</a:t>
            </a:r>
            <a:endParaRPr lang="fr-CH" dirty="0"/>
          </a:p>
          <a:p>
            <a:br>
              <a:rPr lang="fr-CH" dirty="0"/>
            </a:br>
            <a:endParaRPr lang="fr-CH" dirty="0"/>
          </a:p>
          <a:p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EFC858B-C3DB-CF4C-16D2-AD8F14EA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356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D0EFD-60E5-54F5-70D4-654A39086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901265-CD3A-6F8A-DCC5-1009527E4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The </a:t>
            </a:r>
            <a:r>
              <a:rPr lang="fr-FR" dirty="0" err="1"/>
              <a:t>island</a:t>
            </a:r>
            <a:r>
              <a:rPr lang="fr-FR" dirty="0"/>
              <a:t> </a:t>
            </a:r>
            <a:r>
              <a:rPr lang="fr-FR" dirty="0" err="1"/>
              <a:t>Experiment</a:t>
            </a:r>
            <a:r>
              <a:rPr lang="fr-FR" dirty="0"/>
              <a:t> : Intro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37504D33-FFAE-B179-6B07-A1AB7689FE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7961" r="66094" b="28203"/>
          <a:stretch>
            <a:fillRect/>
          </a:stretch>
        </p:blipFill>
        <p:spPr>
          <a:xfrm>
            <a:off x="2644346" y="2454275"/>
            <a:ext cx="1692876" cy="2352503"/>
          </a:xfrm>
        </p:spPr>
      </p:pic>
      <p:pic>
        <p:nvPicPr>
          <p:cNvPr id="3" name="Espace réservé du contenu 4">
            <a:extLst>
              <a:ext uri="{FF2B5EF4-FFF2-40B4-BE49-F238E27FC236}">
                <a16:creationId xmlns:a16="http://schemas.microsoft.com/office/drawing/2014/main" id="{42E7F27A-E90C-59E5-F4F8-164664B787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981" b="28203"/>
          <a:stretch>
            <a:fillRect/>
          </a:stretch>
        </p:blipFill>
        <p:spPr>
          <a:xfrm>
            <a:off x="9547654" y="2454275"/>
            <a:ext cx="1806940" cy="235250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7B4AE3B-9322-60E7-628A-4F920BB05273}"/>
              </a:ext>
            </a:extLst>
          </p:cNvPr>
          <p:cNvSpPr txBox="1"/>
          <p:nvPr/>
        </p:nvSpPr>
        <p:spPr>
          <a:xfrm>
            <a:off x="4880667" y="2505670"/>
            <a:ext cx="13528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64 images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987C914-4DB2-4061-E3ED-54BACA4816A9}"/>
              </a:ext>
            </a:extLst>
          </p:cNvPr>
          <p:cNvSpPr txBox="1"/>
          <p:nvPr/>
        </p:nvSpPr>
        <p:spPr>
          <a:xfrm>
            <a:off x="7385348" y="2505670"/>
            <a:ext cx="15872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6 </a:t>
            </a:r>
            <a:r>
              <a:rPr lang="fr-FR" sz="2000" b="1" dirty="0" err="1"/>
              <a:t>repetitions</a:t>
            </a:r>
            <a:endParaRPr lang="fr-FR" sz="2000" b="1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E8577F9-E1DC-98BF-76AC-D75815A691C8}"/>
              </a:ext>
            </a:extLst>
          </p:cNvPr>
          <p:cNvSpPr txBox="1"/>
          <p:nvPr/>
        </p:nvSpPr>
        <p:spPr>
          <a:xfrm flipH="1">
            <a:off x="5234056" y="3429000"/>
            <a:ext cx="40829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categories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Faces / </a:t>
            </a:r>
            <a:r>
              <a:rPr lang="fr-FR" dirty="0" err="1"/>
              <a:t>Objects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Relevant to the </a:t>
            </a:r>
            <a:r>
              <a:rPr lang="fr-FR" dirty="0" err="1"/>
              <a:t>task</a:t>
            </a:r>
            <a:r>
              <a:rPr lang="fr-FR" dirty="0"/>
              <a:t> / </a:t>
            </a:r>
            <a:r>
              <a:rPr lang="fr-FR" dirty="0" err="1"/>
              <a:t>Irrelevant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Images </a:t>
            </a:r>
            <a:r>
              <a:rPr lang="fr-FR" dirty="0" err="1"/>
              <a:t>encountered</a:t>
            </a:r>
            <a:r>
              <a:rPr lang="fr-FR" dirty="0"/>
              <a:t> in the </a:t>
            </a:r>
            <a:r>
              <a:rPr lang="fr-FR" dirty="0" err="1"/>
              <a:t>island</a:t>
            </a:r>
            <a:r>
              <a:rPr lang="fr-FR" dirty="0"/>
              <a:t> (</a:t>
            </a:r>
            <a:r>
              <a:rPr lang="fr-FR" dirty="0" err="1"/>
              <a:t>old</a:t>
            </a:r>
            <a:r>
              <a:rPr lang="fr-FR" dirty="0"/>
              <a:t>) / new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pic>
        <p:nvPicPr>
          <p:cNvPr id="8" name="Picture 6" descr="Identité ‒ Organisation et identité ‐ EPFL">
            <a:extLst>
              <a:ext uri="{FF2B5EF4-FFF2-40B4-BE49-F238E27FC236}">
                <a16:creationId xmlns:a16="http://schemas.microsoft.com/office/drawing/2014/main" id="{C9C71992-5206-B9E5-85BA-8CA11DAD2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8178" y="170796"/>
            <a:ext cx="844979" cy="47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35281B6F-778F-BCB3-9E3F-36A387554BBE}"/>
              </a:ext>
            </a:extLst>
          </p:cNvPr>
          <p:cNvSpPr txBox="1"/>
          <p:nvPr/>
        </p:nvSpPr>
        <p:spPr>
          <a:xfrm>
            <a:off x="10066464" y="233628"/>
            <a:ext cx="13223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 </a:t>
            </a:r>
            <a:r>
              <a:rPr lang="fr-CH" dirty="0" err="1"/>
              <a:t>MIP:Lab</a:t>
            </a:r>
            <a:endParaRPr lang="fr-CH" dirty="0"/>
          </a:p>
          <a:p>
            <a:br>
              <a:rPr lang="fr-CH" dirty="0"/>
            </a:br>
            <a:endParaRPr lang="fr-CH" dirty="0"/>
          </a:p>
          <a:p>
            <a:endParaRPr lang="fr-FR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6B430794-960E-F442-0813-02A366200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839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1F8D3-53C2-BCC9-4DF6-C2689C4BE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8735F0-85EB-E842-4BD5-B31F56AE4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The </a:t>
            </a:r>
            <a:r>
              <a:rPr lang="fr-FR" dirty="0" err="1"/>
              <a:t>island</a:t>
            </a:r>
            <a:r>
              <a:rPr lang="fr-FR" dirty="0"/>
              <a:t> </a:t>
            </a:r>
            <a:r>
              <a:rPr lang="fr-FR" dirty="0" err="1"/>
              <a:t>Experiment</a:t>
            </a:r>
            <a:r>
              <a:rPr lang="fr-FR" dirty="0"/>
              <a:t> : Intro</a:t>
            </a:r>
          </a:p>
        </p:txBody>
      </p:sp>
      <p:pic>
        <p:nvPicPr>
          <p:cNvPr id="3" name="Espace réservé du contenu 4">
            <a:extLst>
              <a:ext uri="{FF2B5EF4-FFF2-40B4-BE49-F238E27FC236}">
                <a16:creationId xmlns:a16="http://schemas.microsoft.com/office/drawing/2014/main" id="{7860E59B-1988-6BC1-8C39-18953955E5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981" t="63386" b="28203"/>
          <a:stretch>
            <a:fillRect/>
          </a:stretch>
        </p:blipFill>
        <p:spPr>
          <a:xfrm>
            <a:off x="9547654" y="4531179"/>
            <a:ext cx="1806940" cy="275599"/>
          </a:xfrm>
          <a:prstGeom prst="rect">
            <a:avLst/>
          </a:prstGeom>
        </p:spPr>
      </p:pic>
      <p:pic>
        <p:nvPicPr>
          <p:cNvPr id="8" name="Picture 6" descr="Identité ‒ Organisation et identité ‐ EPFL">
            <a:extLst>
              <a:ext uri="{FF2B5EF4-FFF2-40B4-BE49-F238E27FC236}">
                <a16:creationId xmlns:a16="http://schemas.microsoft.com/office/drawing/2014/main" id="{2DA83954-CEB0-14E1-9F63-BB4591C8B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8178" y="170796"/>
            <a:ext cx="844979" cy="47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00A0840-1283-CB95-E312-AE34FE6AF077}"/>
              </a:ext>
            </a:extLst>
          </p:cNvPr>
          <p:cNvSpPr txBox="1"/>
          <p:nvPr/>
        </p:nvSpPr>
        <p:spPr>
          <a:xfrm>
            <a:off x="10066464" y="233628"/>
            <a:ext cx="13223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 </a:t>
            </a:r>
            <a:r>
              <a:rPr lang="fr-CH" dirty="0" err="1"/>
              <a:t>MIP:Lab</a:t>
            </a:r>
            <a:endParaRPr lang="fr-CH" dirty="0"/>
          </a:p>
          <a:p>
            <a:br>
              <a:rPr lang="fr-CH" dirty="0"/>
            </a:br>
            <a:endParaRPr lang="fr-CH" dirty="0"/>
          </a:p>
          <a:p>
            <a:endParaRPr lang="fr-FR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3474431B-5E45-D049-DE24-BA3F7FF32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6</a:t>
            </a:fld>
            <a:endParaRPr lang="en-US"/>
          </a:p>
        </p:txBody>
      </p:sp>
      <p:pic>
        <p:nvPicPr>
          <p:cNvPr id="14" name="Image 13" descr="Une image contenant dessin, croquis, illustration, clipart&#10;&#10;Le contenu généré par l’IA peut être incorrect.">
            <a:extLst>
              <a:ext uri="{FF2B5EF4-FFF2-40B4-BE49-F238E27FC236}">
                <a16:creationId xmlns:a16="http://schemas.microsoft.com/office/drawing/2014/main" id="{BA82EA36-C345-2435-248D-F2FEA7351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385" y="2446753"/>
            <a:ext cx="2533650" cy="1426998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28621949-1447-B789-74E9-AE34C1295A20}"/>
              </a:ext>
            </a:extLst>
          </p:cNvPr>
          <p:cNvSpPr txBox="1"/>
          <p:nvPr/>
        </p:nvSpPr>
        <p:spPr>
          <a:xfrm>
            <a:off x="700635" y="1852660"/>
            <a:ext cx="2406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1. Stimuli </a:t>
            </a:r>
            <a:r>
              <a:rPr lang="fr-FR" dirty="0" err="1"/>
              <a:t>Presentation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7456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10B50-CC62-1742-92BD-8468731C7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53096F-BA73-C97C-4B62-ED282C079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The </a:t>
            </a:r>
            <a:r>
              <a:rPr lang="fr-FR" dirty="0" err="1"/>
              <a:t>island</a:t>
            </a:r>
            <a:r>
              <a:rPr lang="fr-FR" dirty="0"/>
              <a:t> </a:t>
            </a:r>
            <a:r>
              <a:rPr lang="fr-FR" dirty="0" err="1"/>
              <a:t>Experiment</a:t>
            </a:r>
            <a:r>
              <a:rPr lang="fr-FR" dirty="0"/>
              <a:t> : Intro</a:t>
            </a:r>
          </a:p>
        </p:txBody>
      </p:sp>
      <p:pic>
        <p:nvPicPr>
          <p:cNvPr id="3" name="Espace réservé du contenu 4">
            <a:extLst>
              <a:ext uri="{FF2B5EF4-FFF2-40B4-BE49-F238E27FC236}">
                <a16:creationId xmlns:a16="http://schemas.microsoft.com/office/drawing/2014/main" id="{8BA2304B-0AEC-9608-A522-DA944AD21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981" t="63386" b="28203"/>
          <a:stretch>
            <a:fillRect/>
          </a:stretch>
        </p:blipFill>
        <p:spPr>
          <a:xfrm>
            <a:off x="9547654" y="4531179"/>
            <a:ext cx="1806940" cy="275599"/>
          </a:xfrm>
          <a:prstGeom prst="rect">
            <a:avLst/>
          </a:prstGeom>
        </p:spPr>
      </p:pic>
      <p:pic>
        <p:nvPicPr>
          <p:cNvPr id="8" name="Picture 6" descr="Identité ‒ Organisation et identité ‐ EPFL">
            <a:extLst>
              <a:ext uri="{FF2B5EF4-FFF2-40B4-BE49-F238E27FC236}">
                <a16:creationId xmlns:a16="http://schemas.microsoft.com/office/drawing/2014/main" id="{2D0E0B5E-345B-123D-5EEE-D3D3F9805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8178" y="170796"/>
            <a:ext cx="844979" cy="47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A52B93A-8266-ED63-BFEC-0F6DF0299488}"/>
              </a:ext>
            </a:extLst>
          </p:cNvPr>
          <p:cNvSpPr txBox="1"/>
          <p:nvPr/>
        </p:nvSpPr>
        <p:spPr>
          <a:xfrm>
            <a:off x="10066464" y="233628"/>
            <a:ext cx="13223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 </a:t>
            </a:r>
            <a:r>
              <a:rPr lang="fr-CH" dirty="0" err="1"/>
              <a:t>MIP:Lab</a:t>
            </a:r>
            <a:endParaRPr lang="fr-CH" dirty="0"/>
          </a:p>
          <a:p>
            <a:br>
              <a:rPr lang="fr-CH" dirty="0"/>
            </a:br>
            <a:endParaRPr lang="fr-CH" dirty="0"/>
          </a:p>
          <a:p>
            <a:endParaRPr lang="fr-FR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3A79E2E8-0F25-36BD-3736-8E22B268E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7</a:t>
            </a:fld>
            <a:endParaRPr lang="en-US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7A3550D-0C22-F51B-B714-955C879DD92B}"/>
              </a:ext>
            </a:extLst>
          </p:cNvPr>
          <p:cNvSpPr txBox="1"/>
          <p:nvPr/>
        </p:nvSpPr>
        <p:spPr>
          <a:xfrm>
            <a:off x="8860289" y="1177006"/>
            <a:ext cx="2406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1. Stimuli </a:t>
            </a:r>
            <a:r>
              <a:rPr lang="fr-FR" dirty="0" err="1"/>
              <a:t>Presentation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E20EFA3-AE54-E2F9-9EC3-E9ED9EC1B496}"/>
              </a:ext>
            </a:extLst>
          </p:cNvPr>
          <p:cNvSpPr txBox="1"/>
          <p:nvPr/>
        </p:nvSpPr>
        <p:spPr>
          <a:xfrm>
            <a:off x="700635" y="1852660"/>
            <a:ext cx="2999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2. </a:t>
            </a:r>
            <a:r>
              <a:rPr lang="fr-FR" dirty="0" err="1"/>
              <a:t>Ask</a:t>
            </a:r>
            <a:r>
              <a:rPr lang="fr-FR" dirty="0"/>
              <a:t> : « </a:t>
            </a:r>
            <a:r>
              <a:rPr lang="fr-FR" dirty="0" err="1"/>
              <a:t>Seen</a:t>
            </a:r>
            <a:r>
              <a:rPr lang="fr-FR" dirty="0"/>
              <a:t> or not </a:t>
            </a:r>
            <a:r>
              <a:rPr lang="fr-FR" dirty="0" err="1"/>
              <a:t>Seen</a:t>
            </a:r>
            <a:r>
              <a:rPr lang="fr-FR" dirty="0"/>
              <a:t> »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B99279-53F5-60DE-0CA7-9AEE227901BA}"/>
              </a:ext>
            </a:extLst>
          </p:cNvPr>
          <p:cNvSpPr/>
          <p:nvPr/>
        </p:nvSpPr>
        <p:spPr>
          <a:xfrm>
            <a:off x="914400" y="3429000"/>
            <a:ext cx="1504950" cy="59055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Seen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B23E98-AB6B-2D70-135A-8853629F159B}"/>
              </a:ext>
            </a:extLst>
          </p:cNvPr>
          <p:cNvSpPr/>
          <p:nvPr/>
        </p:nvSpPr>
        <p:spPr>
          <a:xfrm>
            <a:off x="3700174" y="3403346"/>
            <a:ext cx="1504950" cy="59055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Not </a:t>
            </a:r>
            <a:r>
              <a:rPr lang="fr-FR" dirty="0" err="1">
                <a:solidFill>
                  <a:schemeClr val="tx1"/>
                </a:solidFill>
              </a:rPr>
              <a:t>Seen</a:t>
            </a:r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5639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C2B36-71C6-D120-9A65-4E68C7C67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6DF35361-A667-B5B9-8079-5F1A4B9820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29" b="17358"/>
          <a:stretch>
            <a:fillRect/>
          </a:stretch>
        </p:blipFill>
        <p:spPr>
          <a:xfrm>
            <a:off x="1619250" y="2683668"/>
            <a:ext cx="4610100" cy="259318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E08B584-D131-BF38-26AC-4ABA47A82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The </a:t>
            </a:r>
            <a:r>
              <a:rPr lang="fr-FR" dirty="0" err="1"/>
              <a:t>island</a:t>
            </a:r>
            <a:r>
              <a:rPr lang="fr-FR" dirty="0"/>
              <a:t> </a:t>
            </a:r>
            <a:r>
              <a:rPr lang="fr-FR" dirty="0" err="1"/>
              <a:t>Experiment</a:t>
            </a:r>
            <a:r>
              <a:rPr lang="fr-FR" dirty="0"/>
              <a:t> : Intro</a:t>
            </a:r>
          </a:p>
        </p:txBody>
      </p:sp>
      <p:pic>
        <p:nvPicPr>
          <p:cNvPr id="3" name="Espace réservé du contenu 4">
            <a:extLst>
              <a:ext uri="{FF2B5EF4-FFF2-40B4-BE49-F238E27FC236}">
                <a16:creationId xmlns:a16="http://schemas.microsoft.com/office/drawing/2014/main" id="{868E1145-1282-490C-F725-CA91D6D975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981" t="63386" b="28203"/>
          <a:stretch>
            <a:fillRect/>
          </a:stretch>
        </p:blipFill>
        <p:spPr>
          <a:xfrm>
            <a:off x="9547654" y="4531179"/>
            <a:ext cx="1806940" cy="275599"/>
          </a:xfrm>
          <a:prstGeom prst="rect">
            <a:avLst/>
          </a:prstGeom>
        </p:spPr>
      </p:pic>
      <p:pic>
        <p:nvPicPr>
          <p:cNvPr id="8" name="Picture 6" descr="Identité ‒ Organisation et identité ‐ EPFL">
            <a:extLst>
              <a:ext uri="{FF2B5EF4-FFF2-40B4-BE49-F238E27FC236}">
                <a16:creationId xmlns:a16="http://schemas.microsoft.com/office/drawing/2014/main" id="{27E43BD0-7378-0FA8-EA3A-1AA1964FA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8178" y="170796"/>
            <a:ext cx="844979" cy="47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D1A25DF-55E8-3552-83AD-064F6D8723C9}"/>
              </a:ext>
            </a:extLst>
          </p:cNvPr>
          <p:cNvSpPr txBox="1"/>
          <p:nvPr/>
        </p:nvSpPr>
        <p:spPr>
          <a:xfrm>
            <a:off x="10066464" y="233628"/>
            <a:ext cx="13223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 </a:t>
            </a:r>
            <a:r>
              <a:rPr lang="fr-CH" dirty="0" err="1"/>
              <a:t>MIP:Lab</a:t>
            </a:r>
            <a:endParaRPr lang="fr-CH" dirty="0"/>
          </a:p>
          <a:p>
            <a:br>
              <a:rPr lang="fr-CH" dirty="0"/>
            </a:br>
            <a:endParaRPr lang="fr-CH" dirty="0"/>
          </a:p>
          <a:p>
            <a:endParaRPr lang="fr-FR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A9C3E624-974E-3F83-B1C6-A0327B1DC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8</a:t>
            </a:fld>
            <a:endParaRPr lang="en-US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385F195-8ECE-F57B-7912-900F78403695}"/>
              </a:ext>
            </a:extLst>
          </p:cNvPr>
          <p:cNvSpPr txBox="1"/>
          <p:nvPr/>
        </p:nvSpPr>
        <p:spPr>
          <a:xfrm>
            <a:off x="8860289" y="1177006"/>
            <a:ext cx="2406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1. Stimuli </a:t>
            </a:r>
            <a:r>
              <a:rPr lang="fr-FR" dirty="0" err="1"/>
              <a:t>Presentation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3CF78E2-8CE6-A133-4C6C-D91218CF1F16}"/>
              </a:ext>
            </a:extLst>
          </p:cNvPr>
          <p:cNvSpPr txBox="1"/>
          <p:nvPr/>
        </p:nvSpPr>
        <p:spPr>
          <a:xfrm>
            <a:off x="8860289" y="1643308"/>
            <a:ext cx="2999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2. </a:t>
            </a:r>
            <a:r>
              <a:rPr lang="fr-FR" dirty="0" err="1"/>
              <a:t>Ask</a:t>
            </a:r>
            <a:r>
              <a:rPr lang="fr-FR" dirty="0"/>
              <a:t> : « </a:t>
            </a:r>
            <a:r>
              <a:rPr lang="fr-FR" dirty="0" err="1"/>
              <a:t>Seen</a:t>
            </a:r>
            <a:r>
              <a:rPr lang="fr-FR" dirty="0"/>
              <a:t> or not </a:t>
            </a:r>
            <a:r>
              <a:rPr lang="fr-FR" dirty="0" err="1"/>
              <a:t>Seen</a:t>
            </a:r>
            <a:r>
              <a:rPr lang="fr-FR" dirty="0"/>
              <a:t> »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7288A1A-6FF9-96A1-CB64-C90619A6B244}"/>
              </a:ext>
            </a:extLst>
          </p:cNvPr>
          <p:cNvSpPr txBox="1"/>
          <p:nvPr/>
        </p:nvSpPr>
        <p:spPr>
          <a:xfrm>
            <a:off x="700635" y="1852660"/>
            <a:ext cx="2353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3. </a:t>
            </a:r>
            <a:r>
              <a:rPr lang="fr-FR" dirty="0" err="1"/>
              <a:t>Ask</a:t>
            </a:r>
            <a:r>
              <a:rPr lang="fr-FR" dirty="0"/>
              <a:t> to place stimuli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FD9B235-AA14-E252-349C-F6856643180F}"/>
              </a:ext>
            </a:extLst>
          </p:cNvPr>
          <p:cNvSpPr txBox="1"/>
          <p:nvPr/>
        </p:nvSpPr>
        <p:spPr>
          <a:xfrm>
            <a:off x="2120248" y="5517118"/>
            <a:ext cx="3608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"Stimuli Pos : (-221.7, 88.3, 283.6)"</a:t>
            </a:r>
          </a:p>
        </p:txBody>
      </p:sp>
      <p:pic>
        <p:nvPicPr>
          <p:cNvPr id="16" name="Graphique 15" descr="Index pointant vers la droite vu du côté du dos de la main contour">
            <a:extLst>
              <a:ext uri="{FF2B5EF4-FFF2-40B4-BE49-F238E27FC236}">
                <a16:creationId xmlns:a16="http://schemas.microsoft.com/office/drawing/2014/main" id="{E44604A9-1209-3BD2-87AF-03A17A5C34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33750" y="4073979"/>
            <a:ext cx="914400" cy="9144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3BC0294D-679B-5608-FC62-05BC0ACF5B64}"/>
              </a:ext>
            </a:extLst>
          </p:cNvPr>
          <p:cNvSpPr/>
          <p:nvPr/>
        </p:nvSpPr>
        <p:spPr>
          <a:xfrm>
            <a:off x="3759200" y="2683668"/>
            <a:ext cx="4470400" cy="1542892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If </a:t>
            </a:r>
            <a:r>
              <a:rPr lang="fr-FR" dirty="0" err="1"/>
              <a:t>never</a:t>
            </a:r>
            <a:r>
              <a:rPr lang="fr-FR" dirty="0"/>
              <a:t> </a:t>
            </a:r>
            <a:r>
              <a:rPr lang="fr-FR" dirty="0" err="1"/>
              <a:t>seen</a:t>
            </a:r>
            <a:r>
              <a:rPr lang="fr-FR" dirty="0"/>
              <a:t> </a:t>
            </a:r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were</a:t>
            </a:r>
            <a:r>
              <a:rPr lang="fr-FR" dirty="0"/>
              <a:t> </a:t>
            </a:r>
            <a:r>
              <a:rPr lang="fr-FR" dirty="0" err="1"/>
              <a:t>asked</a:t>
            </a:r>
            <a:r>
              <a:rPr lang="fr-FR" dirty="0"/>
              <a:t> to place the stimuli </a:t>
            </a:r>
            <a:r>
              <a:rPr lang="fr-FR" b="1" dirty="0"/>
              <a:t>in the water</a:t>
            </a:r>
          </a:p>
        </p:txBody>
      </p:sp>
    </p:spTree>
    <p:extLst>
      <p:ext uri="{BB962C8B-B14F-4D97-AF65-F5344CB8AC3E}">
        <p14:creationId xmlns:p14="http://schemas.microsoft.com/office/powerpoint/2010/main" val="113299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77984-8F10-7895-E812-A0E027EC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6DF35F-514A-81CD-08D2-6889A367D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The </a:t>
            </a:r>
            <a:r>
              <a:rPr lang="fr-FR" dirty="0" err="1"/>
              <a:t>island</a:t>
            </a:r>
            <a:r>
              <a:rPr lang="fr-FR" dirty="0"/>
              <a:t> </a:t>
            </a:r>
            <a:r>
              <a:rPr lang="fr-FR" dirty="0" err="1"/>
              <a:t>Experiment</a:t>
            </a:r>
            <a:r>
              <a:rPr lang="fr-FR" dirty="0"/>
              <a:t> : Intro</a:t>
            </a:r>
          </a:p>
        </p:txBody>
      </p:sp>
      <p:pic>
        <p:nvPicPr>
          <p:cNvPr id="3" name="Espace réservé du contenu 4">
            <a:extLst>
              <a:ext uri="{FF2B5EF4-FFF2-40B4-BE49-F238E27FC236}">
                <a16:creationId xmlns:a16="http://schemas.microsoft.com/office/drawing/2014/main" id="{8736D2E4-08A2-BB2F-E8E7-C52DDB7B6F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981" t="63386" b="28203"/>
          <a:stretch>
            <a:fillRect/>
          </a:stretch>
        </p:blipFill>
        <p:spPr>
          <a:xfrm>
            <a:off x="9547654" y="4531179"/>
            <a:ext cx="1806940" cy="275599"/>
          </a:xfrm>
          <a:prstGeom prst="rect">
            <a:avLst/>
          </a:prstGeom>
        </p:spPr>
      </p:pic>
      <p:pic>
        <p:nvPicPr>
          <p:cNvPr id="8" name="Picture 6" descr="Identité ‒ Organisation et identité ‐ EPFL">
            <a:extLst>
              <a:ext uri="{FF2B5EF4-FFF2-40B4-BE49-F238E27FC236}">
                <a16:creationId xmlns:a16="http://schemas.microsoft.com/office/drawing/2014/main" id="{F811F8FD-201F-6288-8415-8FC48641C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8178" y="170796"/>
            <a:ext cx="844979" cy="47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D0218B56-5B65-F0A6-0525-FBC47087BCD4}"/>
              </a:ext>
            </a:extLst>
          </p:cNvPr>
          <p:cNvSpPr txBox="1"/>
          <p:nvPr/>
        </p:nvSpPr>
        <p:spPr>
          <a:xfrm>
            <a:off x="10066464" y="233628"/>
            <a:ext cx="13223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 </a:t>
            </a:r>
            <a:r>
              <a:rPr lang="fr-CH" dirty="0" err="1"/>
              <a:t>MIP:Lab</a:t>
            </a:r>
            <a:endParaRPr lang="fr-CH" dirty="0"/>
          </a:p>
          <a:p>
            <a:br>
              <a:rPr lang="fr-CH" dirty="0"/>
            </a:br>
            <a:endParaRPr lang="fr-CH" dirty="0"/>
          </a:p>
          <a:p>
            <a:endParaRPr lang="fr-FR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2B7D617D-9C65-D0C5-3996-9A5A764E2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9</a:t>
            </a:fld>
            <a:endParaRPr lang="en-US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7A08CDE-9AC2-975A-CE7C-B7D2275F60ED}"/>
              </a:ext>
            </a:extLst>
          </p:cNvPr>
          <p:cNvSpPr txBox="1"/>
          <p:nvPr/>
        </p:nvSpPr>
        <p:spPr>
          <a:xfrm>
            <a:off x="8860289" y="1177006"/>
            <a:ext cx="2406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1. Stimuli </a:t>
            </a:r>
            <a:r>
              <a:rPr lang="fr-FR" dirty="0" err="1"/>
              <a:t>Presentation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236855A-166C-6DA1-08B6-87FF5DDEFE90}"/>
              </a:ext>
            </a:extLst>
          </p:cNvPr>
          <p:cNvSpPr txBox="1"/>
          <p:nvPr/>
        </p:nvSpPr>
        <p:spPr>
          <a:xfrm>
            <a:off x="8860289" y="1643308"/>
            <a:ext cx="2999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2. </a:t>
            </a:r>
            <a:r>
              <a:rPr lang="fr-FR" dirty="0" err="1"/>
              <a:t>Ask</a:t>
            </a:r>
            <a:r>
              <a:rPr lang="fr-FR" dirty="0"/>
              <a:t> : « </a:t>
            </a:r>
            <a:r>
              <a:rPr lang="fr-FR" dirty="0" err="1"/>
              <a:t>Seen</a:t>
            </a:r>
            <a:r>
              <a:rPr lang="fr-FR" dirty="0"/>
              <a:t> or not </a:t>
            </a:r>
            <a:r>
              <a:rPr lang="fr-FR" dirty="0" err="1"/>
              <a:t>Seen</a:t>
            </a:r>
            <a:r>
              <a:rPr lang="fr-FR" dirty="0"/>
              <a:t> »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E88C529-E3D1-DA03-BBDF-7CF3713D56E7}"/>
              </a:ext>
            </a:extLst>
          </p:cNvPr>
          <p:cNvSpPr txBox="1"/>
          <p:nvPr/>
        </p:nvSpPr>
        <p:spPr>
          <a:xfrm>
            <a:off x="8860289" y="2115266"/>
            <a:ext cx="2353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3. </a:t>
            </a:r>
            <a:r>
              <a:rPr lang="fr-FR" dirty="0" err="1"/>
              <a:t>Ask</a:t>
            </a:r>
            <a:r>
              <a:rPr lang="fr-FR" dirty="0"/>
              <a:t> to place stimuli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A250BF3-A978-5276-71A7-87A090982209}"/>
              </a:ext>
            </a:extLst>
          </p:cNvPr>
          <p:cNvSpPr txBox="1"/>
          <p:nvPr/>
        </p:nvSpPr>
        <p:spPr>
          <a:xfrm>
            <a:off x="700635" y="1852660"/>
            <a:ext cx="6059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4. </a:t>
            </a:r>
            <a:r>
              <a:rPr lang="fr-FR" dirty="0" err="1"/>
              <a:t>Ask</a:t>
            </a:r>
            <a:r>
              <a:rPr lang="fr-FR" dirty="0"/>
              <a:t> to rate placement confidence on a </a:t>
            </a:r>
            <a:r>
              <a:rPr lang="fr-FR" dirty="0" err="1"/>
              <a:t>scale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0 to 100</a:t>
            </a:r>
          </a:p>
        </p:txBody>
      </p:sp>
      <p:pic>
        <p:nvPicPr>
          <p:cNvPr id="1026" name="Picture 2" descr="NE31 Horizontal Scale 0.5''/0.005''">
            <a:extLst>
              <a:ext uri="{FF2B5EF4-FFF2-40B4-BE49-F238E27FC236}">
                <a16:creationId xmlns:a16="http://schemas.microsoft.com/office/drawing/2014/main" id="{9573D22A-ECAE-1859-36D1-173F4C5CA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863" y="2680035"/>
            <a:ext cx="4451684" cy="2337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CAE0FE1-8EE9-F9CF-F07B-97B9DBCD6294}"/>
              </a:ext>
            </a:extLst>
          </p:cNvPr>
          <p:cNvSpPr txBox="1"/>
          <p:nvPr/>
        </p:nvSpPr>
        <p:spPr>
          <a:xfrm>
            <a:off x="3730471" y="5017169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"23"</a:t>
            </a:r>
          </a:p>
        </p:txBody>
      </p:sp>
    </p:spTree>
    <p:extLst>
      <p:ext uri="{BB962C8B-B14F-4D97-AF65-F5344CB8AC3E}">
        <p14:creationId xmlns:p14="http://schemas.microsoft.com/office/powerpoint/2010/main" val="258839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775AB-A973-7ECD-D0C5-5DCCF3088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F83FD3-0FFC-4CE2-68B5-7639540EA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The </a:t>
            </a:r>
            <a:r>
              <a:rPr lang="fr-FR" dirty="0" err="1"/>
              <a:t>island</a:t>
            </a:r>
            <a:r>
              <a:rPr lang="fr-FR" dirty="0"/>
              <a:t> </a:t>
            </a:r>
            <a:r>
              <a:rPr lang="fr-FR" dirty="0" err="1"/>
              <a:t>Experiment</a:t>
            </a:r>
            <a:r>
              <a:rPr lang="fr-FR" dirty="0"/>
              <a:t> : Intro</a:t>
            </a:r>
          </a:p>
        </p:txBody>
      </p:sp>
      <p:pic>
        <p:nvPicPr>
          <p:cNvPr id="3" name="Espace réservé du contenu 4">
            <a:extLst>
              <a:ext uri="{FF2B5EF4-FFF2-40B4-BE49-F238E27FC236}">
                <a16:creationId xmlns:a16="http://schemas.microsoft.com/office/drawing/2014/main" id="{1888154D-3220-C0A1-759C-B698A35AC1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981" t="63386" b="28203"/>
          <a:stretch>
            <a:fillRect/>
          </a:stretch>
        </p:blipFill>
        <p:spPr>
          <a:xfrm>
            <a:off x="4335779" y="5203410"/>
            <a:ext cx="1806940" cy="275599"/>
          </a:xfrm>
          <a:prstGeom prst="rect">
            <a:avLst/>
          </a:prstGeom>
        </p:spPr>
      </p:pic>
      <p:pic>
        <p:nvPicPr>
          <p:cNvPr id="8" name="Picture 6" descr="Identité ‒ Organisation et identité ‐ EPFL">
            <a:extLst>
              <a:ext uri="{FF2B5EF4-FFF2-40B4-BE49-F238E27FC236}">
                <a16:creationId xmlns:a16="http://schemas.microsoft.com/office/drawing/2014/main" id="{A797AE87-80B4-4707-4BD8-8352BBDEB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8178" y="170796"/>
            <a:ext cx="844979" cy="47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EDBEB0F1-9F5A-DEEA-FF94-263877A01510}"/>
              </a:ext>
            </a:extLst>
          </p:cNvPr>
          <p:cNvSpPr txBox="1"/>
          <p:nvPr/>
        </p:nvSpPr>
        <p:spPr>
          <a:xfrm>
            <a:off x="10066464" y="233628"/>
            <a:ext cx="13223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 </a:t>
            </a:r>
            <a:r>
              <a:rPr lang="fr-CH" dirty="0" err="1"/>
              <a:t>MIP:Lab</a:t>
            </a:r>
            <a:endParaRPr lang="fr-CH" dirty="0"/>
          </a:p>
          <a:p>
            <a:br>
              <a:rPr lang="fr-CH" dirty="0"/>
            </a:br>
            <a:endParaRPr lang="fr-CH" dirty="0"/>
          </a:p>
          <a:p>
            <a:endParaRPr lang="fr-FR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549CA3DE-E6A7-D2C9-64AE-74D75BE76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10</a:t>
            </a:fld>
            <a:endParaRPr lang="en-US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A9DBCE3-DD51-CA4A-042C-D3F400EFC7B9}"/>
              </a:ext>
            </a:extLst>
          </p:cNvPr>
          <p:cNvSpPr txBox="1"/>
          <p:nvPr/>
        </p:nvSpPr>
        <p:spPr>
          <a:xfrm>
            <a:off x="2885976" y="2365471"/>
            <a:ext cx="2406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1. Stimuli </a:t>
            </a:r>
            <a:r>
              <a:rPr lang="fr-FR" dirty="0" err="1"/>
              <a:t>Presentation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DC42BC3-0F0C-0EA9-8308-99C4A4803856}"/>
              </a:ext>
            </a:extLst>
          </p:cNvPr>
          <p:cNvSpPr txBox="1"/>
          <p:nvPr/>
        </p:nvSpPr>
        <p:spPr>
          <a:xfrm>
            <a:off x="2885976" y="2792144"/>
            <a:ext cx="2999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2. </a:t>
            </a:r>
            <a:r>
              <a:rPr lang="fr-FR" dirty="0" err="1"/>
              <a:t>Ask</a:t>
            </a:r>
            <a:r>
              <a:rPr lang="fr-FR" dirty="0"/>
              <a:t> : « </a:t>
            </a:r>
            <a:r>
              <a:rPr lang="fr-FR" dirty="0" err="1"/>
              <a:t>Seen</a:t>
            </a:r>
            <a:r>
              <a:rPr lang="fr-FR" dirty="0"/>
              <a:t> or not </a:t>
            </a:r>
            <a:r>
              <a:rPr lang="fr-FR" dirty="0" err="1"/>
              <a:t>Seen</a:t>
            </a:r>
            <a:r>
              <a:rPr lang="fr-FR" dirty="0"/>
              <a:t> »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5F53A6E-7B38-6B5E-DD13-484482517B94}"/>
              </a:ext>
            </a:extLst>
          </p:cNvPr>
          <p:cNvSpPr txBox="1"/>
          <p:nvPr/>
        </p:nvSpPr>
        <p:spPr>
          <a:xfrm>
            <a:off x="2885976" y="3153891"/>
            <a:ext cx="2353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3. </a:t>
            </a:r>
            <a:r>
              <a:rPr lang="fr-FR" dirty="0" err="1"/>
              <a:t>Ask</a:t>
            </a:r>
            <a:r>
              <a:rPr lang="fr-FR" dirty="0"/>
              <a:t> to place stimuli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B04BDEF-22A5-98C2-0EC5-FB2225820EAB}"/>
              </a:ext>
            </a:extLst>
          </p:cNvPr>
          <p:cNvSpPr txBox="1"/>
          <p:nvPr/>
        </p:nvSpPr>
        <p:spPr>
          <a:xfrm>
            <a:off x="2885976" y="3528035"/>
            <a:ext cx="6059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4. </a:t>
            </a:r>
            <a:r>
              <a:rPr lang="fr-FR" dirty="0" err="1"/>
              <a:t>Ask</a:t>
            </a:r>
            <a:r>
              <a:rPr lang="fr-FR" dirty="0"/>
              <a:t> to rate placement confidence on a </a:t>
            </a:r>
            <a:r>
              <a:rPr lang="fr-FR" dirty="0" err="1"/>
              <a:t>scale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0 to 100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305453C-A34D-E7CE-DA81-B50613960F04}"/>
              </a:ext>
            </a:extLst>
          </p:cNvPr>
          <p:cNvSpPr txBox="1"/>
          <p:nvPr/>
        </p:nvSpPr>
        <p:spPr>
          <a:xfrm>
            <a:off x="4823751" y="418105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615574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61C9D-2528-2BF2-0728-90394DCAE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891DD3-0EBD-EB57-749C-BAFC31281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Methods : </a:t>
            </a:r>
            <a:r>
              <a:rPr lang="fr-FR" dirty="0" err="1"/>
              <a:t>Deuker</a:t>
            </a:r>
            <a:r>
              <a:rPr lang="fr-FR" dirty="0"/>
              <a:t> et al. RSA</a:t>
            </a:r>
          </a:p>
        </p:txBody>
      </p:sp>
      <p:pic>
        <p:nvPicPr>
          <p:cNvPr id="8" name="Picture 6" descr="Identité ‒ Organisation et identité ‐ EPFL">
            <a:extLst>
              <a:ext uri="{FF2B5EF4-FFF2-40B4-BE49-F238E27FC236}">
                <a16:creationId xmlns:a16="http://schemas.microsoft.com/office/drawing/2014/main" id="{68C38CE3-51E0-A150-DB0B-32555F57D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8178" y="170796"/>
            <a:ext cx="844979" cy="47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F5DAA41-D766-D479-08BA-3603B5FA0F8C}"/>
              </a:ext>
            </a:extLst>
          </p:cNvPr>
          <p:cNvSpPr txBox="1"/>
          <p:nvPr/>
        </p:nvSpPr>
        <p:spPr>
          <a:xfrm>
            <a:off x="10066464" y="233628"/>
            <a:ext cx="13223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 </a:t>
            </a:r>
            <a:r>
              <a:rPr lang="fr-CH" dirty="0" err="1"/>
              <a:t>MIP:Lab</a:t>
            </a:r>
            <a:endParaRPr lang="fr-CH" dirty="0"/>
          </a:p>
          <a:p>
            <a:br>
              <a:rPr lang="fr-CH" dirty="0"/>
            </a:br>
            <a:endParaRPr lang="fr-CH" dirty="0"/>
          </a:p>
          <a:p>
            <a:endParaRPr lang="fr-FR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CA19E5D1-4CD7-5B35-B0A1-798E797C1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11</a:t>
            </a:fld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517A891-DB3F-07DE-FC03-726B6D3D63A7}"/>
              </a:ext>
            </a:extLst>
          </p:cNvPr>
          <p:cNvSpPr txBox="1"/>
          <p:nvPr/>
        </p:nvSpPr>
        <p:spPr>
          <a:xfrm>
            <a:off x="2053346" y="2037326"/>
            <a:ext cx="184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Neuronal Matrix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578D621-4C64-584A-701A-BF43820F5D19}"/>
              </a:ext>
            </a:extLst>
          </p:cNvPr>
          <p:cNvSpPr txBox="1"/>
          <p:nvPr/>
        </p:nvSpPr>
        <p:spPr>
          <a:xfrm>
            <a:off x="7847518" y="2037326"/>
            <a:ext cx="1560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Model Matrix</a:t>
            </a:r>
          </a:p>
        </p:txBody>
      </p:sp>
      <p:pic>
        <p:nvPicPr>
          <p:cNvPr id="14" name="Image 13" descr="Une image contenant capture d’écran, Caractère coloré, diagramme, carré&#10;&#10;Le contenu généré par l’IA peut être incorrect.">
            <a:extLst>
              <a:ext uri="{FF2B5EF4-FFF2-40B4-BE49-F238E27FC236}">
                <a16:creationId xmlns:a16="http://schemas.microsoft.com/office/drawing/2014/main" id="{31093AA1-5DF7-7F1D-453B-B974464C2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752" y="2556883"/>
            <a:ext cx="3962488" cy="2971866"/>
          </a:xfrm>
          <a:prstGeom prst="rect">
            <a:avLst/>
          </a:prstGeom>
        </p:spPr>
      </p:pic>
      <p:pic>
        <p:nvPicPr>
          <p:cNvPr id="17" name="Image 16" descr="Une image contenant capture d’écran, motif, Caractère coloré, diagramme&#10;&#10;Le contenu généré par l’IA peut être incorrect.">
            <a:extLst>
              <a:ext uri="{FF2B5EF4-FFF2-40B4-BE49-F238E27FC236}">
                <a16:creationId xmlns:a16="http://schemas.microsoft.com/office/drawing/2014/main" id="{2CD25420-2F20-2D1E-0201-68CF42453B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2625" y="2556883"/>
            <a:ext cx="3935012" cy="2951259"/>
          </a:xfrm>
          <a:prstGeom prst="rect">
            <a:avLst/>
          </a:prstGeom>
        </p:spPr>
      </p:pic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53A291FD-0E91-6AEE-F552-2E2020AE919B}"/>
              </a:ext>
            </a:extLst>
          </p:cNvPr>
          <p:cNvCxnSpPr/>
          <p:nvPr/>
        </p:nvCxnSpPr>
        <p:spPr>
          <a:xfrm>
            <a:off x="5364480" y="4042816"/>
            <a:ext cx="1178560" cy="0"/>
          </a:xfrm>
          <a:prstGeom prst="straightConnector1">
            <a:avLst/>
          </a:prstGeom>
          <a:ln w="57150"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477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5EFC2-F821-C786-3837-758A5187D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28" descr="Une image contenant diagramme, capture d’écran, ligne, conception&#10;&#10;Le contenu généré par l’IA peut être incorrect.">
            <a:extLst>
              <a:ext uri="{FF2B5EF4-FFF2-40B4-BE49-F238E27FC236}">
                <a16:creationId xmlns:a16="http://schemas.microsoft.com/office/drawing/2014/main" id="{D6751406-3E59-D14D-5CB4-0D03E0226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0773" y="1468716"/>
            <a:ext cx="4081144" cy="306085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79098C5-BD13-55D6-435E-53A2B82AB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Methods : Model Matrix</a:t>
            </a:r>
          </a:p>
        </p:txBody>
      </p:sp>
      <p:pic>
        <p:nvPicPr>
          <p:cNvPr id="8" name="Picture 6" descr="Identité ‒ Organisation et identité ‐ EPFL">
            <a:extLst>
              <a:ext uri="{FF2B5EF4-FFF2-40B4-BE49-F238E27FC236}">
                <a16:creationId xmlns:a16="http://schemas.microsoft.com/office/drawing/2014/main" id="{AB6B9247-071F-74A4-F94F-5F16DE38D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8178" y="170796"/>
            <a:ext cx="844979" cy="47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7027D5F-7946-E725-FFDB-9C0CEEF8FD93}"/>
              </a:ext>
            </a:extLst>
          </p:cNvPr>
          <p:cNvSpPr txBox="1"/>
          <p:nvPr/>
        </p:nvSpPr>
        <p:spPr>
          <a:xfrm>
            <a:off x="10066464" y="233628"/>
            <a:ext cx="13223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 </a:t>
            </a:r>
            <a:r>
              <a:rPr lang="fr-CH" dirty="0" err="1"/>
              <a:t>MIP:Lab</a:t>
            </a:r>
            <a:endParaRPr lang="fr-CH" dirty="0"/>
          </a:p>
          <a:p>
            <a:br>
              <a:rPr lang="fr-CH" dirty="0"/>
            </a:br>
            <a:endParaRPr lang="fr-CH" dirty="0"/>
          </a:p>
          <a:p>
            <a:endParaRPr lang="fr-FR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CA09C75-F257-3CE7-B9C1-5CF9E1FC6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12</a:t>
            </a:fld>
            <a:endParaRPr lang="en-US"/>
          </a:p>
        </p:txBody>
      </p:sp>
      <p:pic>
        <p:nvPicPr>
          <p:cNvPr id="17" name="Image 16" descr="Une image contenant capture d’écran, motif, Caractère coloré, diagramme&#10;&#10;Le contenu généré par l’IA peut être incorrect.">
            <a:extLst>
              <a:ext uri="{FF2B5EF4-FFF2-40B4-BE49-F238E27FC236}">
                <a16:creationId xmlns:a16="http://schemas.microsoft.com/office/drawing/2014/main" id="{5FE20591-8332-6B41-9C8A-BCD9D859CE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0908" y="1085013"/>
            <a:ext cx="2497903" cy="1873427"/>
          </a:xfrm>
          <a:prstGeom prst="rect">
            <a:avLst/>
          </a:prstGeom>
        </p:spPr>
      </p:pic>
      <p:grpSp>
        <p:nvGrpSpPr>
          <p:cNvPr id="16" name="Groupe 15">
            <a:extLst>
              <a:ext uri="{FF2B5EF4-FFF2-40B4-BE49-F238E27FC236}">
                <a16:creationId xmlns:a16="http://schemas.microsoft.com/office/drawing/2014/main" id="{6663351C-CC26-A855-893F-101B9ED9A58D}"/>
              </a:ext>
            </a:extLst>
          </p:cNvPr>
          <p:cNvGrpSpPr/>
          <p:nvPr/>
        </p:nvGrpSpPr>
        <p:grpSpPr>
          <a:xfrm>
            <a:off x="2294110" y="2952662"/>
            <a:ext cx="3737305" cy="369332"/>
            <a:chOff x="1322375" y="2127889"/>
            <a:chExt cx="3737305" cy="369332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A199D5C7-ECAC-E370-FE7B-1DA2973B7EF7}"/>
                </a:ext>
              </a:extLst>
            </p:cNvPr>
            <p:cNvSpPr txBox="1"/>
            <p:nvPr/>
          </p:nvSpPr>
          <p:spPr>
            <a:xfrm>
              <a:off x="1322375" y="2127889"/>
              <a:ext cx="20778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 dirty="0" err="1"/>
                <a:t>Euclidean</a:t>
              </a:r>
              <a:r>
                <a:rPr lang="fr-FR" b="1" dirty="0"/>
                <a:t> distance</a:t>
              </a:r>
            </a:p>
          </p:txBody>
        </p:sp>
        <p:cxnSp>
          <p:nvCxnSpPr>
            <p:cNvPr id="11" name="Connecteur droit avec flèche 10">
              <a:extLst>
                <a:ext uri="{FF2B5EF4-FFF2-40B4-BE49-F238E27FC236}">
                  <a16:creationId xmlns:a16="http://schemas.microsoft.com/office/drawing/2014/main" id="{454ED2EE-7D88-591A-070E-FF8DD5A2B887}"/>
                </a:ext>
              </a:extLst>
            </p:cNvPr>
            <p:cNvCxnSpPr/>
            <p:nvPr/>
          </p:nvCxnSpPr>
          <p:spPr>
            <a:xfrm>
              <a:off x="3881120" y="2318692"/>
              <a:ext cx="1178560" cy="0"/>
            </a:xfrm>
            <a:prstGeom prst="straightConnector1">
              <a:avLst/>
            </a:prstGeom>
            <a:ln>
              <a:solidFill>
                <a:schemeClr val="tx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416E4BF2-F91F-93EE-36B2-BC79141003FD}"/>
              </a:ext>
            </a:extLst>
          </p:cNvPr>
          <p:cNvSpPr txBox="1"/>
          <p:nvPr/>
        </p:nvSpPr>
        <p:spPr>
          <a:xfrm>
            <a:off x="700635" y="4696219"/>
            <a:ext cx="3549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old</a:t>
            </a:r>
            <a:r>
              <a:rPr lang="fr-FR" dirty="0"/>
              <a:t> stimuli are of </a:t>
            </a:r>
            <a:r>
              <a:rPr lang="fr-FR" dirty="0" err="1"/>
              <a:t>interests</a:t>
            </a:r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CF376B5-DF05-4FDA-6640-21164B66E15F}"/>
              </a:ext>
            </a:extLst>
          </p:cNvPr>
          <p:cNvSpPr txBox="1"/>
          <p:nvPr/>
        </p:nvSpPr>
        <p:spPr>
          <a:xfrm>
            <a:off x="700635" y="4129464"/>
            <a:ext cx="18264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Trial </a:t>
            </a:r>
            <a:r>
              <a:rPr lang="fr-FR" sz="2000" b="1" dirty="0" err="1"/>
              <a:t>Selection</a:t>
            </a:r>
            <a:endParaRPr lang="fr-FR" sz="2000" b="1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B94CF05-23CB-4C91-2687-4B958454DD5F}"/>
              </a:ext>
            </a:extLst>
          </p:cNvPr>
          <p:cNvSpPr txBox="1"/>
          <p:nvPr/>
        </p:nvSpPr>
        <p:spPr>
          <a:xfrm>
            <a:off x="700635" y="2014402"/>
            <a:ext cx="25587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Distance Calculation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56B925-7157-1D1F-4318-4956FA767496}"/>
              </a:ext>
            </a:extLst>
          </p:cNvPr>
          <p:cNvSpPr/>
          <p:nvPr/>
        </p:nvSpPr>
        <p:spPr>
          <a:xfrm>
            <a:off x="3756720" y="2414512"/>
            <a:ext cx="4470400" cy="1542892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err="1"/>
              <a:t>What</a:t>
            </a:r>
            <a:r>
              <a:rPr lang="fr-FR" sz="2400" dirty="0"/>
              <a:t> about Stimuli </a:t>
            </a:r>
            <a:r>
              <a:rPr lang="fr-FR" sz="2400" dirty="0" err="1"/>
              <a:t>placed</a:t>
            </a:r>
            <a:r>
              <a:rPr lang="fr-FR" sz="2400" dirty="0"/>
              <a:t> in the </a:t>
            </a:r>
            <a:r>
              <a:rPr lang="fr-FR" sz="2400" b="1" dirty="0"/>
              <a:t>Water</a:t>
            </a:r>
            <a:r>
              <a:rPr lang="fr-FR" sz="2400" dirty="0"/>
              <a:t> ? (not </a:t>
            </a:r>
            <a:r>
              <a:rPr lang="fr-FR" sz="2400" dirty="0" err="1"/>
              <a:t>seen</a:t>
            </a:r>
            <a:r>
              <a:rPr lang="fr-FR" sz="2400" dirty="0"/>
              <a:t>)</a:t>
            </a:r>
            <a:endParaRPr lang="fr-FR" sz="2400" b="1" dirty="0"/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171FDD93-85E6-09D8-BA0C-341CC9434229}"/>
              </a:ext>
            </a:extLst>
          </p:cNvPr>
          <p:cNvCxnSpPr/>
          <p:nvPr/>
        </p:nvCxnSpPr>
        <p:spPr>
          <a:xfrm>
            <a:off x="6857857" y="5016533"/>
            <a:ext cx="10972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058F6E21-B1AB-2C13-390B-706F449C1AA8}"/>
              </a:ext>
            </a:extLst>
          </p:cNvPr>
          <p:cNvSpPr txBox="1"/>
          <p:nvPr/>
        </p:nvSpPr>
        <p:spPr>
          <a:xfrm>
            <a:off x="9113962" y="4831867"/>
            <a:ext cx="2078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Only</a:t>
            </a:r>
            <a:r>
              <a:rPr lang="fr-FR" b="1" dirty="0"/>
              <a:t> </a:t>
            </a:r>
            <a:r>
              <a:rPr lang="fr-FR" b="1" dirty="0" err="1"/>
              <a:t>True</a:t>
            </a:r>
            <a:r>
              <a:rPr lang="fr-FR" b="1" dirty="0"/>
              <a:t> Positive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B4422C7C-E7B0-27E6-657A-75697C242763}"/>
              </a:ext>
            </a:extLst>
          </p:cNvPr>
          <p:cNvSpPr txBox="1"/>
          <p:nvPr/>
        </p:nvSpPr>
        <p:spPr>
          <a:xfrm>
            <a:off x="8615593" y="3905908"/>
            <a:ext cx="41561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All trials </a:t>
            </a:r>
            <a:r>
              <a:rPr lang="fr-FR" sz="1600" dirty="0" err="1"/>
              <a:t>were</a:t>
            </a:r>
            <a:r>
              <a:rPr lang="fr-FR" sz="1600" dirty="0"/>
              <a:t> </a:t>
            </a:r>
            <a:r>
              <a:rPr lang="fr-FR" sz="1600" dirty="0" err="1"/>
              <a:t>kept</a:t>
            </a:r>
            <a:r>
              <a:rPr lang="fr-FR" sz="1600" dirty="0"/>
              <a:t> </a:t>
            </a:r>
            <a:r>
              <a:rPr lang="fr-FR" sz="1600" dirty="0" err="1"/>
              <a:t>regardless</a:t>
            </a:r>
            <a:r>
              <a:rPr lang="fr-FR" sz="1600" dirty="0"/>
              <a:t> of the confidence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F67E388-AD22-D613-BEA7-BEFADF269EB5}"/>
              </a:ext>
            </a:extLst>
          </p:cNvPr>
          <p:cNvSpPr txBox="1"/>
          <p:nvPr/>
        </p:nvSpPr>
        <p:spPr>
          <a:xfrm>
            <a:off x="700635" y="5178443"/>
            <a:ext cx="6278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Discard</a:t>
            </a:r>
            <a:r>
              <a:rPr lang="fr-FR" dirty="0"/>
              <a:t> </a:t>
            </a:r>
            <a:r>
              <a:rPr lang="fr-FR" dirty="0" err="1"/>
              <a:t>any</a:t>
            </a:r>
            <a:r>
              <a:rPr lang="fr-FR" dirty="0"/>
              <a:t> trial </a:t>
            </a:r>
            <a:r>
              <a:rPr lang="fr-FR" dirty="0" err="1"/>
              <a:t>defined</a:t>
            </a:r>
            <a:r>
              <a:rPr lang="fr-FR" dirty="0"/>
              <a:t> as « </a:t>
            </a:r>
            <a:r>
              <a:rPr lang="fr-FR" dirty="0" err="1"/>
              <a:t>unseen</a:t>
            </a:r>
            <a:r>
              <a:rPr lang="fr-FR" dirty="0"/>
              <a:t> » by the patients </a:t>
            </a:r>
          </a:p>
        </p:txBody>
      </p: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43205F44-9418-8A31-D77F-FAB556315E2B}"/>
              </a:ext>
            </a:extLst>
          </p:cNvPr>
          <p:cNvCxnSpPr/>
          <p:nvPr/>
        </p:nvCxnSpPr>
        <p:spPr>
          <a:xfrm flipV="1">
            <a:off x="7103603" y="1468716"/>
            <a:ext cx="2508933" cy="12820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7C1443BC-851D-D517-A576-334A482627BA}"/>
              </a:ext>
            </a:extLst>
          </p:cNvPr>
          <p:cNvSpPr/>
          <p:nvPr/>
        </p:nvSpPr>
        <p:spPr>
          <a:xfrm>
            <a:off x="9612536" y="1410049"/>
            <a:ext cx="59261" cy="58667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A1D0756-67A0-1E9A-AF50-D7816DCA4595}"/>
              </a:ext>
            </a:extLst>
          </p:cNvPr>
          <p:cNvSpPr txBox="1"/>
          <p:nvPr/>
        </p:nvSpPr>
        <p:spPr>
          <a:xfrm>
            <a:off x="8778788" y="5307103"/>
            <a:ext cx="28125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17 (35.31%) to 48 (100%), </a:t>
            </a:r>
            <a:r>
              <a:rPr lang="fr-FR" sz="1200" dirty="0" err="1"/>
              <a:t>with</a:t>
            </a:r>
            <a:r>
              <a:rPr lang="fr-FR" sz="1200" dirty="0"/>
              <a:t> a </a:t>
            </a:r>
            <a:r>
              <a:rPr lang="fr-FR" sz="1200" dirty="0" err="1"/>
              <a:t>mean</a:t>
            </a:r>
            <a:r>
              <a:rPr lang="fr-FR" sz="1200" dirty="0"/>
              <a:t> of 33 (68.75%) images per model RDM</a:t>
            </a:r>
          </a:p>
        </p:txBody>
      </p:sp>
    </p:spTree>
    <p:extLst>
      <p:ext uri="{BB962C8B-B14F-4D97-AF65-F5344CB8AC3E}">
        <p14:creationId xmlns:p14="http://schemas.microsoft.com/office/powerpoint/2010/main" val="3205418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8" grpId="0"/>
      <p:bldP spid="20" grpId="0" animBg="1"/>
      <p:bldP spid="20" grpId="1" animBg="1"/>
      <p:bldP spid="24" grpId="0"/>
      <p:bldP spid="25" grpId="0"/>
      <p:bldP spid="27" grpId="0"/>
      <p:bldP spid="32" grpId="0" animBg="1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9232E-079B-B392-B90C-DF03F85CB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4C36D2-B622-580C-91A7-8D27D37AF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Methods : Neuronal Matrix</a:t>
            </a:r>
          </a:p>
        </p:txBody>
      </p:sp>
      <p:pic>
        <p:nvPicPr>
          <p:cNvPr id="8" name="Picture 6" descr="Identité ‒ Organisation et identité ‐ EPFL">
            <a:extLst>
              <a:ext uri="{FF2B5EF4-FFF2-40B4-BE49-F238E27FC236}">
                <a16:creationId xmlns:a16="http://schemas.microsoft.com/office/drawing/2014/main" id="{352E4CF4-DAEE-24EB-3349-2CB45343C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8178" y="170796"/>
            <a:ext cx="844979" cy="47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4D680B3-FCCC-6BF4-F387-3183604667C5}"/>
              </a:ext>
            </a:extLst>
          </p:cNvPr>
          <p:cNvSpPr txBox="1"/>
          <p:nvPr/>
        </p:nvSpPr>
        <p:spPr>
          <a:xfrm>
            <a:off x="10066464" y="233628"/>
            <a:ext cx="13223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 </a:t>
            </a:r>
            <a:r>
              <a:rPr lang="fr-CH" dirty="0" err="1"/>
              <a:t>MIP:Lab</a:t>
            </a:r>
            <a:endParaRPr lang="fr-CH" dirty="0"/>
          </a:p>
          <a:p>
            <a:br>
              <a:rPr lang="fr-CH" dirty="0"/>
            </a:br>
            <a:endParaRPr lang="fr-CH" dirty="0"/>
          </a:p>
          <a:p>
            <a:endParaRPr lang="fr-FR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8C403D74-1528-97F4-3EDC-EE321FFF3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13</a:t>
            </a:fld>
            <a:endParaRPr lang="en-US"/>
          </a:p>
        </p:txBody>
      </p:sp>
      <p:pic>
        <p:nvPicPr>
          <p:cNvPr id="6" name="Image 5" descr="Une image contenant capture d’écran, Caractère coloré, diagramme, carré&#10;&#10;Le contenu généré par l’IA peut être incorrect.">
            <a:extLst>
              <a:ext uri="{FF2B5EF4-FFF2-40B4-BE49-F238E27FC236}">
                <a16:creationId xmlns:a16="http://schemas.microsoft.com/office/drawing/2014/main" id="{96C6F826-8616-F6F0-2D30-73BA37F699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5958" y="1117769"/>
            <a:ext cx="4140005" cy="310500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9A2A334-5F61-32C4-DC5E-2FD2F6C9209C}"/>
              </a:ext>
            </a:extLst>
          </p:cNvPr>
          <p:cNvSpPr txBox="1"/>
          <p:nvPr/>
        </p:nvSpPr>
        <p:spPr>
          <a:xfrm>
            <a:off x="700634" y="1868166"/>
            <a:ext cx="684591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dirty="0"/>
              <a:t>Trial </a:t>
            </a:r>
            <a:r>
              <a:rPr lang="fr-FR" dirty="0" err="1"/>
              <a:t>Specific</a:t>
            </a:r>
            <a:r>
              <a:rPr lang="fr-FR" dirty="0"/>
              <a:t> Beta </a:t>
            </a:r>
            <a:r>
              <a:rPr lang="fr-FR" dirty="0" err="1"/>
              <a:t>maps</a:t>
            </a:r>
            <a:r>
              <a:rPr lang="fr-FR" dirty="0"/>
              <a:t> for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repetitions</a:t>
            </a:r>
            <a:r>
              <a:rPr lang="fr-FR" dirty="0"/>
              <a:t> (6 X 64 = 384 trials)</a:t>
            </a:r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endParaRPr lang="fr-FR" dirty="0"/>
          </a:p>
          <a:p>
            <a:endParaRPr lang="fr-FR" sz="2000" dirty="0"/>
          </a:p>
          <a:p>
            <a:endParaRPr lang="fr-FR" sz="2000" dirty="0"/>
          </a:p>
        </p:txBody>
      </p:sp>
      <p:pic>
        <p:nvPicPr>
          <p:cNvPr id="12" name="Image 11" descr="Une image contenant dessin, croquis, illustration, clipart&#10;&#10;Le contenu généré par l’IA peut être incorrect.">
            <a:extLst>
              <a:ext uri="{FF2B5EF4-FFF2-40B4-BE49-F238E27FC236}">
                <a16:creationId xmlns:a16="http://schemas.microsoft.com/office/drawing/2014/main" id="{C5792FB2-3BC6-5607-BD6C-5D4FE8833E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1185" y="2670271"/>
            <a:ext cx="1594255" cy="897914"/>
          </a:xfrm>
          <a:prstGeom prst="rect">
            <a:avLst/>
          </a:prstGeom>
        </p:spPr>
      </p:pic>
      <p:sp>
        <p:nvSpPr>
          <p:cNvPr id="14" name="Cube 13">
            <a:extLst>
              <a:ext uri="{FF2B5EF4-FFF2-40B4-BE49-F238E27FC236}">
                <a16:creationId xmlns:a16="http://schemas.microsoft.com/office/drawing/2014/main" id="{0B8D1198-CEF3-F7E4-43B3-049727F9AFB9}"/>
              </a:ext>
            </a:extLst>
          </p:cNvPr>
          <p:cNvSpPr/>
          <p:nvPr/>
        </p:nvSpPr>
        <p:spPr>
          <a:xfrm>
            <a:off x="5438194" y="2468048"/>
            <a:ext cx="1185862" cy="1100137"/>
          </a:xfrm>
          <a:prstGeom prst="cub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7DBEAAEF-B3A0-E22A-2858-ACD6EFFEFFCB}"/>
              </a:ext>
            </a:extLst>
          </p:cNvPr>
          <p:cNvCxnSpPr/>
          <p:nvPr/>
        </p:nvCxnSpPr>
        <p:spPr>
          <a:xfrm>
            <a:off x="3574325" y="2971800"/>
            <a:ext cx="12691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445CCFB7-B483-F292-C64A-5CE326EFE933}"/>
              </a:ext>
            </a:extLst>
          </p:cNvPr>
          <p:cNvSpPr txBox="1"/>
          <p:nvPr/>
        </p:nvSpPr>
        <p:spPr>
          <a:xfrm>
            <a:off x="1008003" y="5161034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[0.002, 0.005, …]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AACD31BC-06D5-609D-0CEC-BCC14985EEE1}"/>
              </a:ext>
            </a:extLst>
          </p:cNvPr>
          <p:cNvSpPr txBox="1"/>
          <p:nvPr/>
        </p:nvSpPr>
        <p:spPr>
          <a:xfrm>
            <a:off x="5329238" y="5161034"/>
            <a:ext cx="2004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[0.003, - 0.005, …]</a:t>
            </a:r>
          </a:p>
        </p:txBody>
      </p: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F216B925-75AE-710F-9E48-649FEEF996AD}"/>
              </a:ext>
            </a:extLst>
          </p:cNvPr>
          <p:cNvCxnSpPr/>
          <p:nvPr/>
        </p:nvCxnSpPr>
        <p:spPr>
          <a:xfrm>
            <a:off x="3357563" y="5345700"/>
            <a:ext cx="14859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085A487A-3ABD-61C5-1638-58FC4678D7FC}"/>
              </a:ext>
            </a:extLst>
          </p:cNvPr>
          <p:cNvSpPr txBox="1"/>
          <p:nvPr/>
        </p:nvSpPr>
        <p:spPr>
          <a:xfrm>
            <a:off x="3357563" y="4711475"/>
            <a:ext cx="2112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Pearson value [-1,1]</a:t>
            </a:r>
          </a:p>
        </p:txBody>
      </p: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92F9F82F-9920-6BFB-D1DA-15B95BAFFB31}"/>
              </a:ext>
            </a:extLst>
          </p:cNvPr>
          <p:cNvCxnSpPr>
            <a:cxnSpLocks/>
          </p:cNvCxnSpPr>
          <p:nvPr/>
        </p:nvCxnSpPr>
        <p:spPr>
          <a:xfrm flipV="1">
            <a:off x="5513885" y="3622675"/>
            <a:ext cx="3332660" cy="12411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AC1BA81F-FBC4-6F6E-8B11-5A33BA417925}"/>
              </a:ext>
            </a:extLst>
          </p:cNvPr>
          <p:cNvSpPr/>
          <p:nvPr/>
        </p:nvSpPr>
        <p:spPr>
          <a:xfrm>
            <a:off x="8958264" y="3538654"/>
            <a:ext cx="75690" cy="84021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F2452CE3-9285-EDAC-845B-37DF01122CA3}"/>
              </a:ext>
            </a:extLst>
          </p:cNvPr>
          <p:cNvSpPr txBox="1"/>
          <p:nvPr/>
        </p:nvSpPr>
        <p:spPr>
          <a:xfrm>
            <a:off x="7356897" y="4277263"/>
            <a:ext cx="2499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Mean</a:t>
            </a:r>
            <a:r>
              <a:rPr lang="fr-FR" dirty="0"/>
              <a:t> </a:t>
            </a:r>
            <a:r>
              <a:rPr lang="fr-FR" dirty="0" err="1"/>
              <a:t>across</a:t>
            </a:r>
            <a:r>
              <a:rPr lang="fr-FR" dirty="0"/>
              <a:t> </a:t>
            </a:r>
            <a:r>
              <a:rPr lang="fr-FR" dirty="0" err="1"/>
              <a:t>repetitions</a:t>
            </a:r>
            <a:endParaRPr lang="fr-FR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6A51B977-65E5-742B-EF79-06BBDF2B9F82}"/>
              </a:ext>
            </a:extLst>
          </p:cNvPr>
          <p:cNvSpPr txBox="1"/>
          <p:nvPr/>
        </p:nvSpPr>
        <p:spPr>
          <a:xfrm>
            <a:off x="915637" y="5635823"/>
            <a:ext cx="27488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No </a:t>
            </a:r>
            <a:r>
              <a:rPr lang="fr-FR" sz="1400" dirty="0" err="1"/>
              <a:t>comparison</a:t>
            </a:r>
            <a:r>
              <a:rPr lang="fr-FR" sz="1400" dirty="0"/>
              <a:t> </a:t>
            </a:r>
            <a:r>
              <a:rPr lang="fr-FR" sz="1400" dirty="0" err="1"/>
              <a:t>within</a:t>
            </a:r>
            <a:r>
              <a:rPr lang="fr-FR" sz="1400" dirty="0"/>
              <a:t> </a:t>
            </a:r>
            <a:r>
              <a:rPr lang="fr-FR" sz="1400" dirty="0" err="1"/>
              <a:t>repetitions</a:t>
            </a:r>
            <a:endParaRPr lang="fr-FR" sz="1400" dirty="0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B56AD6D5-ECBE-50E0-4F2E-F4BF07011362}"/>
              </a:ext>
            </a:extLst>
          </p:cNvPr>
          <p:cNvSpPr txBox="1"/>
          <p:nvPr/>
        </p:nvSpPr>
        <p:spPr>
          <a:xfrm>
            <a:off x="2943599" y="2583009"/>
            <a:ext cx="249459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GLM </a:t>
            </a:r>
            <a:r>
              <a:rPr lang="fr-FR" sz="1050" dirty="0" err="1"/>
              <a:t>Analysis</a:t>
            </a:r>
            <a:r>
              <a:rPr lang="fr-FR" sz="1050" dirty="0"/>
              <a:t> at the </a:t>
            </a:r>
            <a:r>
              <a:rPr lang="fr-FR" sz="1050" dirty="0" err="1"/>
              <a:t>Hippocampal</a:t>
            </a:r>
            <a:r>
              <a:rPr lang="fr-FR" sz="1050" dirty="0"/>
              <a:t> </a:t>
            </a:r>
            <a:r>
              <a:rPr lang="fr-FR" sz="1050" dirty="0" err="1"/>
              <a:t>level</a:t>
            </a:r>
            <a:endParaRPr lang="fr-FR" sz="105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BCADFCF-ECA3-0720-3456-1EF107B10B24}"/>
              </a:ext>
            </a:extLst>
          </p:cNvPr>
          <p:cNvSpPr txBox="1"/>
          <p:nvPr/>
        </p:nvSpPr>
        <p:spPr>
          <a:xfrm>
            <a:off x="700634" y="4052942"/>
            <a:ext cx="6099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2. Pearson </a:t>
            </a:r>
            <a:r>
              <a:rPr lang="fr-FR" dirty="0" err="1"/>
              <a:t>correlation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flattened</a:t>
            </a:r>
            <a:r>
              <a:rPr lang="fr-FR" dirty="0"/>
              <a:t> beta </a:t>
            </a:r>
            <a:r>
              <a:rPr lang="fr-FR" dirty="0" err="1"/>
              <a:t>maps</a:t>
            </a:r>
            <a:r>
              <a:rPr lang="fr-FR" dirty="0"/>
              <a:t> (-1, 1)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2A44C4B-3AB0-8ADB-8CC2-C7389F192B01}"/>
              </a:ext>
            </a:extLst>
          </p:cNvPr>
          <p:cNvSpPr txBox="1"/>
          <p:nvPr/>
        </p:nvSpPr>
        <p:spPr>
          <a:xfrm>
            <a:off x="8071110" y="4695393"/>
            <a:ext cx="3319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err="1"/>
              <a:t>Only</a:t>
            </a:r>
            <a:r>
              <a:rPr lang="fr-FR" sz="1200" dirty="0"/>
              <a:t> trials </a:t>
            </a:r>
            <a:r>
              <a:rPr lang="fr-FR" sz="1200" dirty="0" err="1"/>
              <a:t>pre-selected</a:t>
            </a:r>
            <a:r>
              <a:rPr lang="fr-FR" sz="1200" dirty="0"/>
              <a:t> for model RDM are </a:t>
            </a:r>
            <a:r>
              <a:rPr lang="fr-FR" sz="1200" dirty="0" err="1"/>
              <a:t>kept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786734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2" grpId="0"/>
      <p:bldP spid="26" grpId="0"/>
      <p:bldP spid="30" grpId="0"/>
      <p:bldP spid="33" grpId="0" animBg="1"/>
      <p:bldP spid="35" grpId="0"/>
      <p:bldP spid="37" grpId="0"/>
      <p:bldP spid="38" grpId="0"/>
      <p:bldP spid="4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A389B-5F02-0160-F80A-E955CEFB0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EF3625-51FE-9010-1EA3-57D1F4EE4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Methods : </a:t>
            </a:r>
            <a:r>
              <a:rPr lang="fr-FR" dirty="0" err="1"/>
              <a:t>Deuker</a:t>
            </a:r>
            <a:r>
              <a:rPr lang="fr-FR" dirty="0"/>
              <a:t> et al. RSA</a:t>
            </a:r>
          </a:p>
        </p:txBody>
      </p:sp>
      <p:pic>
        <p:nvPicPr>
          <p:cNvPr id="8" name="Picture 6" descr="Identité ‒ Organisation et identité ‐ EPFL">
            <a:extLst>
              <a:ext uri="{FF2B5EF4-FFF2-40B4-BE49-F238E27FC236}">
                <a16:creationId xmlns:a16="http://schemas.microsoft.com/office/drawing/2014/main" id="{937CAA9E-BD76-BDA7-AA37-DFCDAF6E2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8178" y="170796"/>
            <a:ext cx="844979" cy="47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CAEA46FE-DC99-133D-54DF-F1E3CA55CEEB}"/>
              </a:ext>
            </a:extLst>
          </p:cNvPr>
          <p:cNvSpPr txBox="1"/>
          <p:nvPr/>
        </p:nvSpPr>
        <p:spPr>
          <a:xfrm>
            <a:off x="10066464" y="233628"/>
            <a:ext cx="13223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 </a:t>
            </a:r>
            <a:r>
              <a:rPr lang="fr-CH" dirty="0" err="1"/>
              <a:t>MIP:Lab</a:t>
            </a:r>
            <a:endParaRPr lang="fr-CH" dirty="0"/>
          </a:p>
          <a:p>
            <a:br>
              <a:rPr lang="fr-CH" dirty="0"/>
            </a:br>
            <a:endParaRPr lang="fr-CH" dirty="0"/>
          </a:p>
          <a:p>
            <a:endParaRPr lang="fr-FR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80A664D-6D49-5F7E-7AA4-C49BF0C87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14</a:t>
            </a:fld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C5812F8-80B5-D793-81E3-3292F34D18F0}"/>
              </a:ext>
            </a:extLst>
          </p:cNvPr>
          <p:cNvSpPr txBox="1"/>
          <p:nvPr/>
        </p:nvSpPr>
        <p:spPr>
          <a:xfrm>
            <a:off x="2053346" y="2037326"/>
            <a:ext cx="184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Neuronal Matrix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3A2561D-CE1E-E3A5-EF94-CE77B0CFCC88}"/>
              </a:ext>
            </a:extLst>
          </p:cNvPr>
          <p:cNvSpPr txBox="1"/>
          <p:nvPr/>
        </p:nvSpPr>
        <p:spPr>
          <a:xfrm>
            <a:off x="7847518" y="2037326"/>
            <a:ext cx="1560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Model Matrix</a:t>
            </a:r>
          </a:p>
        </p:txBody>
      </p:sp>
      <p:pic>
        <p:nvPicPr>
          <p:cNvPr id="14" name="Image 13" descr="Une image contenant capture d’écran, Caractère coloré, diagramme, carré&#10;&#10;Le contenu généré par l’IA peut être incorrect.">
            <a:extLst>
              <a:ext uri="{FF2B5EF4-FFF2-40B4-BE49-F238E27FC236}">
                <a16:creationId xmlns:a16="http://schemas.microsoft.com/office/drawing/2014/main" id="{2001DC8B-3FBA-BF44-043C-E54C04683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752" y="2556883"/>
            <a:ext cx="3962488" cy="2971866"/>
          </a:xfrm>
          <a:prstGeom prst="rect">
            <a:avLst/>
          </a:prstGeom>
        </p:spPr>
      </p:pic>
      <p:pic>
        <p:nvPicPr>
          <p:cNvPr id="17" name="Image 16" descr="Une image contenant capture d’écran, motif, Caractère coloré, diagramme&#10;&#10;Le contenu généré par l’IA peut être incorrect.">
            <a:extLst>
              <a:ext uri="{FF2B5EF4-FFF2-40B4-BE49-F238E27FC236}">
                <a16:creationId xmlns:a16="http://schemas.microsoft.com/office/drawing/2014/main" id="{8FC7C950-EFEB-1464-4044-F1CAE8624B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2625" y="2556883"/>
            <a:ext cx="3935012" cy="2951259"/>
          </a:xfrm>
          <a:prstGeom prst="rect">
            <a:avLst/>
          </a:prstGeom>
        </p:spPr>
      </p:pic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4BA82DF2-B2D8-44F3-99E1-B14F75544CF4}"/>
              </a:ext>
            </a:extLst>
          </p:cNvPr>
          <p:cNvCxnSpPr/>
          <p:nvPr/>
        </p:nvCxnSpPr>
        <p:spPr>
          <a:xfrm>
            <a:off x="5364480" y="4042816"/>
            <a:ext cx="1178560" cy="0"/>
          </a:xfrm>
          <a:prstGeom prst="straightConnector1">
            <a:avLst/>
          </a:prstGeom>
          <a:ln w="57150"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FB65A6B3-FDF7-FDC5-EF72-71DBBA869CE4}"/>
              </a:ext>
            </a:extLst>
          </p:cNvPr>
          <p:cNvSpPr txBox="1"/>
          <p:nvPr/>
        </p:nvSpPr>
        <p:spPr>
          <a:xfrm>
            <a:off x="4867034" y="3321373"/>
            <a:ext cx="235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Spearman </a:t>
            </a:r>
            <a:r>
              <a:rPr lang="fr-FR" dirty="0" err="1"/>
              <a:t>Correlation</a:t>
            </a:r>
            <a:endParaRPr lang="fr-FR" dirty="0"/>
          </a:p>
        </p:txBody>
      </p:sp>
      <p:pic>
        <p:nvPicPr>
          <p:cNvPr id="4" name="Image 3" descr="Une image contenant capture d’écran, Caractère coloré, diagramme, carré&#10;&#10;Le contenu généré par l’IA peut être incorrect.">
            <a:extLst>
              <a:ext uri="{FF2B5EF4-FFF2-40B4-BE49-F238E27FC236}">
                <a16:creationId xmlns:a16="http://schemas.microsoft.com/office/drawing/2014/main" id="{B37060C0-7DD9-2405-12A3-747DD2B5E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36" y="2612313"/>
            <a:ext cx="1088916" cy="816687"/>
          </a:xfrm>
          <a:prstGeom prst="rect">
            <a:avLst/>
          </a:prstGeom>
        </p:spPr>
      </p:pic>
      <p:pic>
        <p:nvPicPr>
          <p:cNvPr id="5" name="Image 4" descr="Une image contenant capture d’écran, Caractère coloré, diagramme, carré&#10;&#10;Le contenu généré par l’IA peut être incorrect.">
            <a:extLst>
              <a:ext uri="{FF2B5EF4-FFF2-40B4-BE49-F238E27FC236}">
                <a16:creationId xmlns:a16="http://schemas.microsoft.com/office/drawing/2014/main" id="{D4784C38-9716-5DBA-0248-7C8B4B6DA7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158" y="4491376"/>
            <a:ext cx="1088916" cy="81668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1B0F1D5-87C0-4B16-AAD2-7941575C68DA}"/>
              </a:ext>
            </a:extLst>
          </p:cNvPr>
          <p:cNvSpPr txBox="1"/>
          <p:nvPr/>
        </p:nvSpPr>
        <p:spPr>
          <a:xfrm>
            <a:off x="225158" y="2242981"/>
            <a:ext cx="60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Post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6458C7D-571F-5EF5-C1E1-8206686C0C43}"/>
              </a:ext>
            </a:extLst>
          </p:cNvPr>
          <p:cNvSpPr txBox="1"/>
          <p:nvPr/>
        </p:nvSpPr>
        <p:spPr>
          <a:xfrm>
            <a:off x="270691" y="4104505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Pre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1F73316-AB7C-33D4-77A0-2C050BBEC659}"/>
              </a:ext>
            </a:extLst>
          </p:cNvPr>
          <p:cNvSpPr txBox="1"/>
          <p:nvPr/>
        </p:nvSpPr>
        <p:spPr>
          <a:xfrm>
            <a:off x="2486813" y="2402350"/>
            <a:ext cx="111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Post - Pre</a:t>
            </a:r>
            <a:endParaRPr lang="fr-FR" sz="1600" dirty="0"/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87135827-9BDE-6771-2D90-4597A2A2896B}"/>
              </a:ext>
            </a:extLst>
          </p:cNvPr>
          <p:cNvCxnSpPr/>
          <p:nvPr/>
        </p:nvCxnSpPr>
        <p:spPr>
          <a:xfrm>
            <a:off x="938817" y="3847846"/>
            <a:ext cx="46032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9521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C5FB7-94E0-D6E7-815B-5640F221B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0C20CD-8DD8-C68A-0E45-C3719B8A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Results</a:t>
            </a:r>
            <a:r>
              <a:rPr lang="fr-FR" dirty="0"/>
              <a:t> </a:t>
            </a:r>
          </a:p>
        </p:txBody>
      </p:sp>
      <p:pic>
        <p:nvPicPr>
          <p:cNvPr id="5" name="Picture 6" descr="Identité ‒ Organisation et identité ‐ EPFL">
            <a:extLst>
              <a:ext uri="{FF2B5EF4-FFF2-40B4-BE49-F238E27FC236}">
                <a16:creationId xmlns:a16="http://schemas.microsoft.com/office/drawing/2014/main" id="{33BE7FF5-B240-00F1-51BF-4D665ED36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8178" y="170796"/>
            <a:ext cx="844979" cy="47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3F87808-DB14-2E94-4979-B1CC1841A959}"/>
              </a:ext>
            </a:extLst>
          </p:cNvPr>
          <p:cNvSpPr txBox="1"/>
          <p:nvPr/>
        </p:nvSpPr>
        <p:spPr>
          <a:xfrm>
            <a:off x="10066464" y="233628"/>
            <a:ext cx="132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 </a:t>
            </a:r>
            <a:r>
              <a:rPr lang="fr-CH" dirty="0" err="1"/>
              <a:t>MIP:Lab</a:t>
            </a:r>
            <a:endParaRPr lang="fr-CH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253663D-99B8-1846-9CB3-EB89077FB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15</a:t>
            </a:fld>
            <a:endParaRPr lang="en-US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11166DA-F73E-6D1F-C00C-41D816706A88}"/>
              </a:ext>
            </a:extLst>
          </p:cNvPr>
          <p:cNvSpPr txBox="1"/>
          <p:nvPr/>
        </p:nvSpPr>
        <p:spPr>
          <a:xfrm>
            <a:off x="7158355" y="3877879"/>
            <a:ext cx="3921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Figure 1. </a:t>
            </a:r>
            <a:r>
              <a:rPr lang="fr-FR" sz="1200" dirty="0" err="1"/>
              <a:t>Mean</a:t>
            </a:r>
            <a:r>
              <a:rPr lang="fr-FR" sz="1200" dirty="0"/>
              <a:t> Spearman </a:t>
            </a:r>
            <a:r>
              <a:rPr lang="fr-FR" sz="1200" dirty="0" err="1"/>
              <a:t>Correlation</a:t>
            </a:r>
            <a:r>
              <a:rPr lang="fr-FR" sz="1200" dirty="0"/>
              <a:t> </a:t>
            </a:r>
            <a:r>
              <a:rPr lang="fr-FR" sz="1200" dirty="0" err="1"/>
              <a:t>coefficiant</a:t>
            </a:r>
            <a:r>
              <a:rPr lang="fr-FR" sz="1200" dirty="0"/>
              <a:t> </a:t>
            </a:r>
          </a:p>
          <a:p>
            <a:r>
              <a:rPr lang="fr-FR" sz="1200" dirty="0" err="1"/>
              <a:t>Across</a:t>
            </a:r>
            <a:r>
              <a:rPr lang="fr-FR" sz="1200" dirty="0"/>
              <a:t> all </a:t>
            </a:r>
            <a:r>
              <a:rPr lang="fr-FR" sz="1200" dirty="0" err="1"/>
              <a:t>subjects</a:t>
            </a:r>
            <a:r>
              <a:rPr lang="fr-FR" sz="1200" dirty="0"/>
              <a:t>. </a:t>
            </a:r>
            <a:r>
              <a:rPr lang="fr-FR" sz="1200" dirty="0" err="1"/>
              <a:t>Calculated</a:t>
            </a:r>
            <a:r>
              <a:rPr lang="fr-FR" sz="1200" dirty="0"/>
              <a:t> </a:t>
            </a:r>
            <a:r>
              <a:rPr lang="fr-FR" sz="1200" dirty="0" err="1"/>
              <a:t>between</a:t>
            </a:r>
            <a:r>
              <a:rPr lang="fr-FR" sz="1200" dirty="0"/>
              <a:t> </a:t>
            </a:r>
            <a:r>
              <a:rPr lang="fr-FR" sz="1200" dirty="0" err="1"/>
              <a:t>pearson</a:t>
            </a:r>
            <a:r>
              <a:rPr lang="fr-FR" sz="1200" dirty="0"/>
              <a:t> neuronal matrix and spatial model matrix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CA50AD5-B07A-DE31-DFF2-DCC7DF321B94}"/>
              </a:ext>
            </a:extLst>
          </p:cNvPr>
          <p:cNvSpPr txBox="1"/>
          <p:nvPr/>
        </p:nvSpPr>
        <p:spPr>
          <a:xfrm>
            <a:off x="1057620" y="2080439"/>
            <a:ext cx="5452821" cy="87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Negative</a:t>
            </a:r>
            <a:r>
              <a:rPr lang="fr-FR" dirty="0"/>
              <a:t> </a:t>
            </a:r>
            <a:r>
              <a:rPr lang="fr-FR" dirty="0" err="1"/>
              <a:t>correlation</a:t>
            </a:r>
            <a:r>
              <a:rPr lang="fr-FR" dirty="0"/>
              <a:t> (-0.013)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No </a:t>
            </a:r>
            <a:r>
              <a:rPr lang="fr-FR" dirty="0" err="1"/>
              <a:t>Significance</a:t>
            </a:r>
            <a:r>
              <a:rPr lang="fr-FR" dirty="0"/>
              <a:t> (p=.1496)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8C143A5-0960-2564-CA1B-1550AF7204F4}"/>
              </a:ext>
            </a:extLst>
          </p:cNvPr>
          <p:cNvSpPr txBox="1"/>
          <p:nvPr/>
        </p:nvSpPr>
        <p:spPr>
          <a:xfrm>
            <a:off x="561862" y="3751681"/>
            <a:ext cx="59485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The direction of </a:t>
            </a:r>
            <a:r>
              <a:rPr lang="fr-FR" dirty="0" err="1"/>
              <a:t>correlation</a:t>
            </a:r>
            <a:r>
              <a:rPr lang="fr-FR" dirty="0"/>
              <a:t> </a:t>
            </a:r>
            <a:r>
              <a:rPr lang="fr-FR" dirty="0" err="1"/>
              <a:t>aligns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literature</a:t>
            </a:r>
            <a:r>
              <a:rPr lang="fr-FR" dirty="0"/>
              <a:t> </a:t>
            </a:r>
            <a:r>
              <a:rPr lang="fr-FR" dirty="0" err="1"/>
              <a:t>where</a:t>
            </a:r>
            <a:r>
              <a:rPr lang="fr-FR" dirty="0"/>
              <a:t> neural </a:t>
            </a:r>
            <a:r>
              <a:rPr lang="fr-FR" dirty="0" err="1"/>
              <a:t>responses</a:t>
            </a:r>
            <a:r>
              <a:rPr lang="fr-FR" dirty="0"/>
              <a:t>  of close </a:t>
            </a:r>
            <a:r>
              <a:rPr lang="fr-FR" dirty="0" err="1"/>
              <a:t>memories</a:t>
            </a:r>
            <a:r>
              <a:rPr lang="fr-FR" dirty="0"/>
              <a:t> (in </a:t>
            </a:r>
            <a:r>
              <a:rPr lang="fr-FR" dirty="0" err="1"/>
              <a:t>space</a:t>
            </a:r>
            <a:r>
              <a:rPr lang="fr-FR" dirty="0"/>
              <a:t>) are more </a:t>
            </a:r>
            <a:r>
              <a:rPr lang="fr-FR" dirty="0" err="1"/>
              <a:t>correlated</a:t>
            </a:r>
            <a:r>
              <a:rPr lang="fr-FR" dirty="0"/>
              <a:t>.</a:t>
            </a:r>
          </a:p>
        </p:txBody>
      </p:sp>
      <p:pic>
        <p:nvPicPr>
          <p:cNvPr id="18" name="Image 17" descr="Une image contenant texte, capture d’écran, ligne, diagramme&#10;&#10;Le contenu généré par l’IA peut être incorrect.">
            <a:extLst>
              <a:ext uri="{FF2B5EF4-FFF2-40B4-BE49-F238E27FC236}">
                <a16:creationId xmlns:a16="http://schemas.microsoft.com/office/drawing/2014/main" id="{7DADB52D-3D77-2352-800C-A5D5101B9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302" y="1250451"/>
            <a:ext cx="2797737" cy="243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56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37A7D-1CAF-FE27-0E85-584DAD9B8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EE4371-E54B-81EB-45ED-120707696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Results</a:t>
            </a:r>
            <a:r>
              <a:rPr lang="fr-FR" dirty="0"/>
              <a:t> : </a:t>
            </a:r>
            <a:r>
              <a:rPr lang="fr-FR" dirty="0" err="1"/>
              <a:t>Median</a:t>
            </a:r>
            <a:r>
              <a:rPr lang="fr-FR" dirty="0"/>
              <a:t> Split </a:t>
            </a:r>
          </a:p>
        </p:txBody>
      </p:sp>
      <p:pic>
        <p:nvPicPr>
          <p:cNvPr id="5" name="Picture 6" descr="Identité ‒ Organisation et identité ‐ EPFL">
            <a:extLst>
              <a:ext uri="{FF2B5EF4-FFF2-40B4-BE49-F238E27FC236}">
                <a16:creationId xmlns:a16="http://schemas.microsoft.com/office/drawing/2014/main" id="{AF4895C5-B4D6-1ED9-81A5-DD45906921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8178" y="170796"/>
            <a:ext cx="844979" cy="47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61E76B2-9E05-C5DE-05DE-AE1A9BFFA176}"/>
              </a:ext>
            </a:extLst>
          </p:cNvPr>
          <p:cNvSpPr txBox="1"/>
          <p:nvPr/>
        </p:nvSpPr>
        <p:spPr>
          <a:xfrm>
            <a:off x="10066464" y="233628"/>
            <a:ext cx="132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 </a:t>
            </a:r>
            <a:r>
              <a:rPr lang="fr-CH" dirty="0" err="1"/>
              <a:t>MIP:Lab</a:t>
            </a:r>
            <a:endParaRPr lang="fr-CH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C16E2D0-3506-26EC-7BFE-57E58DD3C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16</a:t>
            </a:fld>
            <a:endParaRPr lang="en-US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7A2803F-FA34-FB84-D516-D6FE6DDCF3ED}"/>
              </a:ext>
            </a:extLst>
          </p:cNvPr>
          <p:cNvSpPr txBox="1"/>
          <p:nvPr/>
        </p:nvSpPr>
        <p:spPr>
          <a:xfrm>
            <a:off x="7579131" y="2526497"/>
            <a:ext cx="2202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Deuker</a:t>
            </a:r>
            <a:r>
              <a:rPr lang="fr-FR" dirty="0"/>
              <a:t> et al. </a:t>
            </a:r>
            <a:r>
              <a:rPr lang="fr-FR" dirty="0" err="1"/>
              <a:t>Results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2B9F203-A88D-C5BF-1B9B-20D4A9308037}"/>
              </a:ext>
            </a:extLst>
          </p:cNvPr>
          <p:cNvSpPr txBox="1"/>
          <p:nvPr/>
        </p:nvSpPr>
        <p:spPr>
          <a:xfrm>
            <a:off x="2164418" y="2492408"/>
            <a:ext cx="1335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Our </a:t>
            </a:r>
            <a:r>
              <a:rPr lang="fr-FR" dirty="0" err="1"/>
              <a:t>Results</a:t>
            </a:r>
            <a:endParaRPr lang="fr-FR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1747998-3E3F-0CCF-C3FA-06176E2FF808}"/>
              </a:ext>
            </a:extLst>
          </p:cNvPr>
          <p:cNvSpPr txBox="1"/>
          <p:nvPr/>
        </p:nvSpPr>
        <p:spPr>
          <a:xfrm>
            <a:off x="700635" y="1781101"/>
            <a:ext cx="69678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/>
              <a:t>Divide</a:t>
            </a:r>
            <a:r>
              <a:rPr lang="fr-FR" sz="1600" dirty="0"/>
              <a:t> </a:t>
            </a:r>
            <a:r>
              <a:rPr lang="fr-FR" sz="1600" dirty="0" err="1"/>
              <a:t>correlation</a:t>
            </a:r>
            <a:r>
              <a:rPr lang="fr-FR" sz="1600" dirty="0"/>
              <a:t> values by </a:t>
            </a:r>
            <a:r>
              <a:rPr lang="fr-FR" sz="1600" dirty="0" err="1"/>
              <a:t>their</a:t>
            </a:r>
            <a:r>
              <a:rPr lang="fr-FR" sz="1600" dirty="0"/>
              <a:t> </a:t>
            </a:r>
            <a:r>
              <a:rPr lang="fr-FR" sz="1600" dirty="0" err="1"/>
              <a:t>corresponding</a:t>
            </a:r>
            <a:r>
              <a:rPr lang="fr-FR" sz="1600" dirty="0"/>
              <a:t> distance value (</a:t>
            </a:r>
            <a:r>
              <a:rPr lang="fr-FR" sz="1600" dirty="0" err="1"/>
              <a:t>low</a:t>
            </a:r>
            <a:r>
              <a:rPr lang="fr-FR" sz="1600" dirty="0"/>
              <a:t> and high)</a:t>
            </a: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13937762-EABB-6B28-5DC4-1503C2BDE818}"/>
              </a:ext>
            </a:extLst>
          </p:cNvPr>
          <p:cNvGrpSpPr/>
          <p:nvPr/>
        </p:nvGrpSpPr>
        <p:grpSpPr>
          <a:xfrm>
            <a:off x="7192655" y="3200334"/>
            <a:ext cx="2685727" cy="2514600"/>
            <a:chOff x="7672552" y="3429000"/>
            <a:chExt cx="1711430" cy="1676356"/>
          </a:xfrm>
        </p:grpSpPr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E7CB4283-70FA-B066-8597-59FFCBAEAC59}"/>
                </a:ext>
              </a:extLst>
            </p:cNvPr>
            <p:cNvGrpSpPr/>
            <p:nvPr/>
          </p:nvGrpSpPr>
          <p:grpSpPr>
            <a:xfrm>
              <a:off x="7672552" y="3472985"/>
              <a:ext cx="1711430" cy="1632371"/>
              <a:chOff x="7672552" y="3472985"/>
              <a:chExt cx="1711430" cy="1632371"/>
            </a:xfrm>
          </p:grpSpPr>
          <p:pic>
            <p:nvPicPr>
              <p:cNvPr id="4100" name="Picture 4">
                <a:extLst>
                  <a:ext uri="{FF2B5EF4-FFF2-40B4-BE49-F238E27FC236}">
                    <a16:creationId xmlns:a16="http://schemas.microsoft.com/office/drawing/2014/main" id="{5894B51A-B58F-BA47-B455-D11CE7DF3EF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94603" r="81182" b="73"/>
              <a:stretch>
                <a:fillRect/>
              </a:stretch>
            </p:blipFill>
            <p:spPr bwMode="auto">
              <a:xfrm>
                <a:off x="7672552" y="4740230"/>
                <a:ext cx="1711430" cy="3651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9" name="Picture 4">
                <a:extLst>
                  <a:ext uri="{FF2B5EF4-FFF2-40B4-BE49-F238E27FC236}">
                    <a16:creationId xmlns:a16="http://schemas.microsoft.com/office/drawing/2014/main" id="{53D8EA39-D7C7-6A9E-6D82-BAE47C33CE6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4" t="35979" r="82695" b="44470"/>
              <a:stretch>
                <a:fillRect/>
              </a:stretch>
            </p:blipFill>
            <p:spPr bwMode="auto">
              <a:xfrm>
                <a:off x="7748356" y="3472985"/>
                <a:ext cx="1559822" cy="13408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29442B4-55B9-9BEB-69BD-44F9CAB0B031}"/>
                </a:ext>
              </a:extLst>
            </p:cNvPr>
            <p:cNvSpPr/>
            <p:nvPr/>
          </p:nvSpPr>
          <p:spPr>
            <a:xfrm>
              <a:off x="8816405" y="3429000"/>
              <a:ext cx="491773" cy="215348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24" name="Image 23" descr="Une image contenant texte, capture d’écran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60DAEB7A-61F4-A5E5-B192-B96767E230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46" y="3132156"/>
            <a:ext cx="411480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075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AEDBB-9A1B-E0D6-2C79-A46386742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Une image contenant capture d’écran, Caractère coloré, diagramme, carré&#10;&#10;Le contenu généré par l’IA peut être incorrect.">
            <a:extLst>
              <a:ext uri="{FF2B5EF4-FFF2-40B4-BE49-F238E27FC236}">
                <a16:creationId xmlns:a16="http://schemas.microsoft.com/office/drawing/2014/main" id="{3979163E-BC81-86D8-C1C7-230A2101A4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605"/>
          <a:stretch>
            <a:fillRect/>
          </a:stretch>
        </p:blipFill>
        <p:spPr>
          <a:xfrm>
            <a:off x="1594112" y="2633038"/>
            <a:ext cx="1123721" cy="345480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7F87AD5-3CDD-1AA2-7233-09C4E4A50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Results</a:t>
            </a:r>
            <a:r>
              <a:rPr lang="fr-FR" dirty="0"/>
              <a:t> : Pearson vs </a:t>
            </a:r>
            <a:r>
              <a:rPr lang="fr-FR" dirty="0" err="1"/>
              <a:t>euclidean</a:t>
            </a:r>
            <a:endParaRPr lang="fr-FR" dirty="0"/>
          </a:p>
        </p:txBody>
      </p:sp>
      <p:pic>
        <p:nvPicPr>
          <p:cNvPr id="5" name="Picture 6" descr="Identité ‒ Organisation et identité ‐ EPFL">
            <a:extLst>
              <a:ext uri="{FF2B5EF4-FFF2-40B4-BE49-F238E27FC236}">
                <a16:creationId xmlns:a16="http://schemas.microsoft.com/office/drawing/2014/main" id="{99BE79ED-F322-E771-8BE1-378548D7BA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8178" y="170796"/>
            <a:ext cx="844979" cy="47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1423DE6-12FA-9A1D-8406-F225AA8F5EAC}"/>
              </a:ext>
            </a:extLst>
          </p:cNvPr>
          <p:cNvSpPr txBox="1"/>
          <p:nvPr/>
        </p:nvSpPr>
        <p:spPr>
          <a:xfrm>
            <a:off x="10066464" y="233628"/>
            <a:ext cx="132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 </a:t>
            </a:r>
            <a:r>
              <a:rPr lang="fr-CH" dirty="0" err="1"/>
              <a:t>MIP:Lab</a:t>
            </a:r>
            <a:endParaRPr lang="fr-CH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15D39-0097-FECF-FD7F-7225A4707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17</a:t>
            </a:fld>
            <a:endParaRPr 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E804B80-E8EE-0B9F-D3AA-183577F41CAC}"/>
              </a:ext>
            </a:extLst>
          </p:cNvPr>
          <p:cNvSpPr txBox="1"/>
          <p:nvPr/>
        </p:nvSpPr>
        <p:spPr>
          <a:xfrm>
            <a:off x="980502" y="1938968"/>
            <a:ext cx="917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Deuker</a:t>
            </a:r>
            <a:r>
              <a:rPr lang="fr-FR" dirty="0"/>
              <a:t> et al. </a:t>
            </a:r>
            <a:r>
              <a:rPr lang="fr-FR" dirty="0" err="1"/>
              <a:t>refer</a:t>
            </a:r>
            <a:r>
              <a:rPr lang="fr-FR" dirty="0"/>
              <a:t> to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metric</a:t>
            </a:r>
            <a:r>
              <a:rPr lang="fr-FR" dirty="0"/>
              <a:t> as a Pattern </a:t>
            </a:r>
            <a:r>
              <a:rPr lang="fr-FR" dirty="0" err="1"/>
              <a:t>similarity</a:t>
            </a:r>
            <a:r>
              <a:rPr lang="fr-FR" dirty="0"/>
              <a:t> </a:t>
            </a:r>
            <a:r>
              <a:rPr lang="fr-FR" dirty="0" err="1"/>
              <a:t>metric</a:t>
            </a:r>
            <a:r>
              <a:rPr lang="fr-FR" dirty="0"/>
              <a:t> (</a:t>
            </a: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low</a:t>
            </a:r>
            <a:r>
              <a:rPr lang="fr-FR" dirty="0"/>
              <a:t> and high values)</a:t>
            </a:r>
          </a:p>
        </p:txBody>
      </p:sp>
      <p:pic>
        <p:nvPicPr>
          <p:cNvPr id="12" name="Image 11" descr="Une image contenant capture d’écran, motif, Caractère coloré, diagramme&#10;&#10;Le contenu généré par l’IA peut être incorrect.">
            <a:extLst>
              <a:ext uri="{FF2B5EF4-FFF2-40B4-BE49-F238E27FC236}">
                <a16:creationId xmlns:a16="http://schemas.microsoft.com/office/drawing/2014/main" id="{CF13CFFA-A08C-4F74-9A6B-C9784D8F8B2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6289"/>
          <a:stretch>
            <a:fillRect/>
          </a:stretch>
        </p:blipFill>
        <p:spPr>
          <a:xfrm>
            <a:off x="8942743" y="2527253"/>
            <a:ext cx="1123721" cy="3554410"/>
          </a:xfrm>
          <a:prstGeom prst="rect">
            <a:avLst/>
          </a:prstGeom>
        </p:spPr>
      </p:pic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09E33103-759E-0866-3984-44ACDF3E727C}"/>
              </a:ext>
            </a:extLst>
          </p:cNvPr>
          <p:cNvCxnSpPr/>
          <p:nvPr/>
        </p:nvCxnSpPr>
        <p:spPr>
          <a:xfrm flipV="1">
            <a:off x="2941504" y="3205908"/>
            <a:ext cx="0" cy="2434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E46750D2-F4C6-E8D3-9FCC-A824ADACF970}"/>
              </a:ext>
            </a:extLst>
          </p:cNvPr>
          <p:cNvSpPr txBox="1"/>
          <p:nvPr/>
        </p:nvSpPr>
        <p:spPr>
          <a:xfrm>
            <a:off x="3027803" y="5640636"/>
            <a:ext cx="1341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Low </a:t>
            </a:r>
            <a:r>
              <a:rPr lang="fr-FR" sz="1400" dirty="0" err="1"/>
              <a:t>similarity</a:t>
            </a:r>
            <a:r>
              <a:rPr lang="fr-FR" sz="1400" dirty="0"/>
              <a:t> 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9B748EF7-EC1B-B717-B788-04271FB9A5CD}"/>
              </a:ext>
            </a:extLst>
          </p:cNvPr>
          <p:cNvSpPr txBox="1"/>
          <p:nvPr/>
        </p:nvSpPr>
        <p:spPr>
          <a:xfrm>
            <a:off x="3027803" y="3123657"/>
            <a:ext cx="13756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High </a:t>
            </a:r>
            <a:r>
              <a:rPr lang="fr-FR" sz="1400" dirty="0" err="1"/>
              <a:t>similarity</a:t>
            </a:r>
            <a:r>
              <a:rPr lang="fr-FR" sz="1400" dirty="0"/>
              <a:t> </a:t>
            </a:r>
          </a:p>
        </p:txBody>
      </p: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31440ECF-B89B-A8D5-C2BA-3C7577100A79}"/>
              </a:ext>
            </a:extLst>
          </p:cNvPr>
          <p:cNvCxnSpPr>
            <a:cxnSpLocks/>
          </p:cNvCxnSpPr>
          <p:nvPr/>
        </p:nvCxnSpPr>
        <p:spPr>
          <a:xfrm flipV="1">
            <a:off x="5726935" y="3205908"/>
            <a:ext cx="0" cy="1098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BAD44F86-BD76-4EFD-0D8F-8170C2F32FA1}"/>
              </a:ext>
            </a:extLst>
          </p:cNvPr>
          <p:cNvCxnSpPr>
            <a:cxnSpLocks/>
          </p:cNvCxnSpPr>
          <p:nvPr/>
        </p:nvCxnSpPr>
        <p:spPr>
          <a:xfrm>
            <a:off x="5726935" y="4456858"/>
            <a:ext cx="0" cy="1183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ZoneTexte 42">
            <a:extLst>
              <a:ext uri="{FF2B5EF4-FFF2-40B4-BE49-F238E27FC236}">
                <a16:creationId xmlns:a16="http://schemas.microsoft.com/office/drawing/2014/main" id="{B8258FC4-E6EB-AD39-02F4-AB6DB5C74D3B}"/>
              </a:ext>
            </a:extLst>
          </p:cNvPr>
          <p:cNvSpPr txBox="1"/>
          <p:nvPr/>
        </p:nvSpPr>
        <p:spPr>
          <a:xfrm>
            <a:off x="5933640" y="3121223"/>
            <a:ext cx="995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/>
              <a:t>Correlated</a:t>
            </a:r>
            <a:endParaRPr lang="fr-FR" sz="1400" dirty="0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7424D089-13D6-B3EC-7BA6-775CDB19DECE}"/>
              </a:ext>
            </a:extLst>
          </p:cNvPr>
          <p:cNvSpPr txBox="1"/>
          <p:nvPr/>
        </p:nvSpPr>
        <p:spPr>
          <a:xfrm>
            <a:off x="5933640" y="5486747"/>
            <a:ext cx="1339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Anti-</a:t>
            </a:r>
            <a:r>
              <a:rPr lang="fr-FR" sz="1400" dirty="0" err="1"/>
              <a:t>correlated</a:t>
            </a:r>
            <a:endParaRPr lang="fr-FR" sz="1400" dirty="0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410FBA37-935F-AB2D-D235-B20C2C1C41F3}"/>
              </a:ext>
            </a:extLst>
          </p:cNvPr>
          <p:cNvSpPr txBox="1"/>
          <p:nvPr/>
        </p:nvSpPr>
        <p:spPr>
          <a:xfrm>
            <a:off x="5894426" y="4206551"/>
            <a:ext cx="1352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No </a:t>
            </a:r>
            <a:r>
              <a:rPr lang="fr-FR" sz="1400" dirty="0" err="1"/>
              <a:t>Correlation</a:t>
            </a:r>
            <a:endParaRPr lang="fr-FR" sz="1400" dirty="0"/>
          </a:p>
        </p:txBody>
      </p: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ACF48633-E510-753C-A334-50434E3F0418}"/>
              </a:ext>
            </a:extLst>
          </p:cNvPr>
          <p:cNvCxnSpPr/>
          <p:nvPr/>
        </p:nvCxnSpPr>
        <p:spPr>
          <a:xfrm flipV="1">
            <a:off x="9905926" y="3095921"/>
            <a:ext cx="0" cy="2434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ZoneTexte 46">
            <a:extLst>
              <a:ext uri="{FF2B5EF4-FFF2-40B4-BE49-F238E27FC236}">
                <a16:creationId xmlns:a16="http://schemas.microsoft.com/office/drawing/2014/main" id="{E6F55513-B93C-2FFE-481D-C1C1962CEB41}"/>
              </a:ext>
            </a:extLst>
          </p:cNvPr>
          <p:cNvSpPr txBox="1"/>
          <p:nvPr/>
        </p:nvSpPr>
        <p:spPr>
          <a:xfrm>
            <a:off x="9992225" y="5530649"/>
            <a:ext cx="15576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Low </a:t>
            </a:r>
            <a:r>
              <a:rPr lang="fr-FR" sz="1400" dirty="0" err="1"/>
              <a:t>dissimilarity</a:t>
            </a:r>
            <a:r>
              <a:rPr lang="fr-FR" sz="1400" dirty="0"/>
              <a:t> 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79E743F5-A419-295E-DF31-A092989BEE87}"/>
              </a:ext>
            </a:extLst>
          </p:cNvPr>
          <p:cNvSpPr txBox="1"/>
          <p:nvPr/>
        </p:nvSpPr>
        <p:spPr>
          <a:xfrm>
            <a:off x="9992225" y="3013670"/>
            <a:ext cx="16385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High </a:t>
            </a:r>
            <a:r>
              <a:rPr lang="fr-FR" sz="1400" dirty="0" err="1"/>
              <a:t>dissimilarity</a:t>
            </a:r>
            <a:r>
              <a:rPr lang="fr-FR" sz="1400" dirty="0"/>
              <a:t>  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3B2736AA-E4EE-DB58-953A-A7F2542ECFE1}"/>
              </a:ext>
            </a:extLst>
          </p:cNvPr>
          <p:cNvSpPr txBox="1"/>
          <p:nvPr/>
        </p:nvSpPr>
        <p:spPr>
          <a:xfrm>
            <a:off x="980502" y="2479149"/>
            <a:ext cx="8053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/>
              <a:t>Pearson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9B3E42DB-C987-4F30-E919-2316780C63B4}"/>
              </a:ext>
            </a:extLst>
          </p:cNvPr>
          <p:cNvSpPr txBox="1"/>
          <p:nvPr/>
        </p:nvSpPr>
        <p:spPr>
          <a:xfrm>
            <a:off x="8502829" y="2479148"/>
            <a:ext cx="17091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 err="1"/>
              <a:t>Euclidean</a:t>
            </a:r>
            <a:r>
              <a:rPr lang="fr-FR" sz="1400" b="1" dirty="0"/>
              <a:t> Distance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C868E1B-F15A-A12F-752A-B684E014D393}"/>
              </a:ext>
            </a:extLst>
          </p:cNvPr>
          <p:cNvSpPr txBox="1"/>
          <p:nvPr/>
        </p:nvSpPr>
        <p:spPr>
          <a:xfrm>
            <a:off x="4198723" y="4100539"/>
            <a:ext cx="492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Vs.</a:t>
            </a:r>
          </a:p>
        </p:txBody>
      </p:sp>
      <p:sp>
        <p:nvSpPr>
          <p:cNvPr id="7" name="Flèche vers le haut 6">
            <a:extLst>
              <a:ext uri="{FF2B5EF4-FFF2-40B4-BE49-F238E27FC236}">
                <a16:creationId xmlns:a16="http://schemas.microsoft.com/office/drawing/2014/main" id="{BA9E8668-8148-5908-C50B-827425196695}"/>
              </a:ext>
            </a:extLst>
          </p:cNvPr>
          <p:cNvSpPr/>
          <p:nvPr/>
        </p:nvSpPr>
        <p:spPr>
          <a:xfrm>
            <a:off x="8052955" y="4644736"/>
            <a:ext cx="270163" cy="727364"/>
          </a:xfrm>
          <a:prstGeom prst="upArrow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lèche vers le haut 9">
            <a:extLst>
              <a:ext uri="{FF2B5EF4-FFF2-40B4-BE49-F238E27FC236}">
                <a16:creationId xmlns:a16="http://schemas.microsoft.com/office/drawing/2014/main" id="{6B5D94A8-3207-94C8-1AA6-BABD84A1068A}"/>
              </a:ext>
            </a:extLst>
          </p:cNvPr>
          <p:cNvSpPr/>
          <p:nvPr/>
        </p:nvSpPr>
        <p:spPr>
          <a:xfrm>
            <a:off x="8052955" y="3429000"/>
            <a:ext cx="270163" cy="727364"/>
          </a:xfrm>
          <a:prstGeom prst="upArrow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6696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43" grpId="0"/>
      <p:bldP spid="44" grpId="0"/>
      <p:bldP spid="45" grpId="0"/>
      <p:bldP spid="47" grpId="0"/>
      <p:bldP spid="48" grpId="0"/>
      <p:bldP spid="49" grpId="0"/>
      <p:bldP spid="50" grpId="0"/>
      <p:bldP spid="8" grpId="0"/>
      <p:bldP spid="7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2AE3E-B246-A3E7-85E3-B54A5C4CF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739241-E94D-F9F0-A19C-1B0463193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Results</a:t>
            </a:r>
            <a:r>
              <a:rPr lang="fr-FR" dirty="0"/>
              <a:t> : Pearson vs </a:t>
            </a:r>
            <a:r>
              <a:rPr lang="fr-FR" dirty="0" err="1"/>
              <a:t>euclidean</a:t>
            </a:r>
            <a:endParaRPr lang="fr-FR" dirty="0"/>
          </a:p>
        </p:txBody>
      </p:sp>
      <p:pic>
        <p:nvPicPr>
          <p:cNvPr id="5" name="Picture 6" descr="Identité ‒ Organisation et identité ‐ EPFL">
            <a:extLst>
              <a:ext uri="{FF2B5EF4-FFF2-40B4-BE49-F238E27FC236}">
                <a16:creationId xmlns:a16="http://schemas.microsoft.com/office/drawing/2014/main" id="{8D80E9D8-273F-D526-828B-DC4C26F2D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8178" y="170796"/>
            <a:ext cx="844979" cy="47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7D1A9AA-B6B5-0EF4-4CF4-05DF8C2A9689}"/>
              </a:ext>
            </a:extLst>
          </p:cNvPr>
          <p:cNvSpPr txBox="1"/>
          <p:nvPr/>
        </p:nvSpPr>
        <p:spPr>
          <a:xfrm>
            <a:off x="10066464" y="233628"/>
            <a:ext cx="132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 </a:t>
            </a:r>
            <a:r>
              <a:rPr lang="fr-CH" dirty="0" err="1"/>
              <a:t>MIP:Lab</a:t>
            </a:r>
            <a:endParaRPr lang="fr-CH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3CFEFF-323E-CB85-861B-B4AFB9CD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18</a:t>
            </a:fld>
            <a:endParaRPr 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0D7F0FC-0FF4-783F-2286-1F12A9B8DF8A}"/>
              </a:ext>
            </a:extLst>
          </p:cNvPr>
          <p:cNvSpPr txBox="1"/>
          <p:nvPr/>
        </p:nvSpPr>
        <p:spPr>
          <a:xfrm>
            <a:off x="533484" y="1938969"/>
            <a:ext cx="4629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1. Use </a:t>
            </a:r>
            <a:r>
              <a:rPr lang="fr-FR" dirty="0" err="1"/>
              <a:t>euclidean</a:t>
            </a:r>
            <a:r>
              <a:rPr lang="fr-FR" dirty="0"/>
              <a:t> distance as neuronal </a:t>
            </a:r>
            <a:r>
              <a:rPr lang="fr-FR" dirty="0" err="1"/>
              <a:t>metric</a:t>
            </a:r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9FA918C-8F2F-5C0D-99BA-FCEFC31EB254}"/>
              </a:ext>
            </a:extLst>
          </p:cNvPr>
          <p:cNvSpPr txBox="1"/>
          <p:nvPr/>
        </p:nvSpPr>
        <p:spPr>
          <a:xfrm>
            <a:off x="5859640" y="1938969"/>
            <a:ext cx="5538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2. </a:t>
            </a:r>
            <a:r>
              <a:rPr lang="fr-FR" dirty="0" err="1"/>
              <a:t>Separative</a:t>
            </a:r>
            <a:r>
              <a:rPr lang="fr-FR" dirty="0"/>
              <a:t> </a:t>
            </a:r>
            <a:r>
              <a:rPr lang="fr-FR" dirty="0" err="1"/>
              <a:t>positve</a:t>
            </a:r>
            <a:r>
              <a:rPr lang="fr-FR" dirty="0"/>
              <a:t> and </a:t>
            </a:r>
            <a:r>
              <a:rPr lang="fr-FR" dirty="0" err="1"/>
              <a:t>negative</a:t>
            </a:r>
            <a:r>
              <a:rPr lang="fr-FR" dirty="0"/>
              <a:t> </a:t>
            </a:r>
            <a:r>
              <a:rPr lang="fr-FR" dirty="0" err="1"/>
              <a:t>pearson’s</a:t>
            </a:r>
            <a:r>
              <a:rPr lang="fr-FR" dirty="0"/>
              <a:t> </a:t>
            </a:r>
            <a:r>
              <a:rPr lang="fr-FR" dirty="0" err="1"/>
              <a:t>correlation</a:t>
            </a:r>
            <a:endParaRPr lang="fr-FR" dirty="0"/>
          </a:p>
        </p:txBody>
      </p:sp>
      <p:pic>
        <p:nvPicPr>
          <p:cNvPr id="15" name="Image 14" descr="Une image contenant texte, capture d’écran, ligne, diagramme&#10;&#10;Le contenu généré par l’IA peut être incorrect.">
            <a:extLst>
              <a:ext uri="{FF2B5EF4-FFF2-40B4-BE49-F238E27FC236}">
                <a16:creationId xmlns:a16="http://schemas.microsoft.com/office/drawing/2014/main" id="{EE55FF8E-A015-F8DA-FBE9-AF9CC087F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2614" y="2734563"/>
            <a:ext cx="2828045" cy="2415821"/>
          </a:xfrm>
          <a:prstGeom prst="rect">
            <a:avLst/>
          </a:prstGeom>
        </p:spPr>
      </p:pic>
      <p:pic>
        <p:nvPicPr>
          <p:cNvPr id="18" name="Image 17" descr="Une image contenant capture d’écran, Caractère coloré, diagramme, carré&#10;&#10;Le contenu généré par l’IA peut être incorrect.">
            <a:extLst>
              <a:ext uri="{FF2B5EF4-FFF2-40B4-BE49-F238E27FC236}">
                <a16:creationId xmlns:a16="http://schemas.microsoft.com/office/drawing/2014/main" id="{0735CB75-57BB-D534-A81F-BDDC45933A7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425" t="11231" r="21721" b="10729"/>
          <a:stretch>
            <a:fillRect/>
          </a:stretch>
        </p:blipFill>
        <p:spPr>
          <a:xfrm>
            <a:off x="5936498" y="4104842"/>
            <a:ext cx="1068401" cy="949570"/>
          </a:xfrm>
          <a:prstGeom prst="rect">
            <a:avLst/>
          </a:prstGeom>
        </p:spPr>
      </p:pic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EA9916D4-739A-80BD-697C-8834683A18BE}"/>
              </a:ext>
            </a:extLst>
          </p:cNvPr>
          <p:cNvCxnSpPr/>
          <p:nvPr/>
        </p:nvCxnSpPr>
        <p:spPr>
          <a:xfrm flipV="1">
            <a:off x="7216481" y="3862040"/>
            <a:ext cx="627962" cy="363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4A0EBF16-91D7-CE22-BE5F-4241D28ADDE6}"/>
              </a:ext>
            </a:extLst>
          </p:cNvPr>
          <p:cNvCxnSpPr>
            <a:cxnSpLocks/>
          </p:cNvCxnSpPr>
          <p:nvPr/>
        </p:nvCxnSpPr>
        <p:spPr>
          <a:xfrm>
            <a:off x="7216481" y="4225597"/>
            <a:ext cx="627962" cy="372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62E72B4-16EF-8C3B-8961-258515EC6D33}"/>
              </a:ext>
            </a:extLst>
          </p:cNvPr>
          <p:cNvSpPr/>
          <p:nvPr/>
        </p:nvSpPr>
        <p:spPr>
          <a:xfrm>
            <a:off x="8123564" y="4462637"/>
            <a:ext cx="473725" cy="373103"/>
          </a:xfrm>
          <a:prstGeom prst="rect">
            <a:avLst/>
          </a:prstGeom>
          <a:solidFill>
            <a:srgbClr val="E1812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AC3673-C787-5BED-B38F-48C955D6B446}"/>
              </a:ext>
            </a:extLst>
          </p:cNvPr>
          <p:cNvSpPr/>
          <p:nvPr/>
        </p:nvSpPr>
        <p:spPr>
          <a:xfrm>
            <a:off x="8123565" y="3700410"/>
            <a:ext cx="473725" cy="373103"/>
          </a:xfrm>
          <a:prstGeom prst="rect">
            <a:avLst/>
          </a:prstGeom>
          <a:solidFill>
            <a:srgbClr val="3274A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177B66E-54D8-1136-46B3-3521643B3451}"/>
              </a:ext>
            </a:extLst>
          </p:cNvPr>
          <p:cNvSpPr txBox="1"/>
          <p:nvPr/>
        </p:nvSpPr>
        <p:spPr>
          <a:xfrm>
            <a:off x="8019294" y="3985956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Positive [0,1]</a:t>
            </a:r>
            <a:r>
              <a:rPr lang="fr-FR" dirty="0"/>
              <a:t> 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62917A22-23EF-79F1-28D4-E5835F7AC833}"/>
              </a:ext>
            </a:extLst>
          </p:cNvPr>
          <p:cNvSpPr txBox="1"/>
          <p:nvPr/>
        </p:nvSpPr>
        <p:spPr>
          <a:xfrm>
            <a:off x="8019294" y="4824454"/>
            <a:ext cx="1130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 err="1"/>
              <a:t>Negative</a:t>
            </a:r>
            <a:r>
              <a:rPr lang="fr-FR" sz="1100" dirty="0"/>
              <a:t> [-1,0]</a:t>
            </a:r>
            <a:r>
              <a:rPr lang="fr-FR" dirty="0"/>
              <a:t> </a:t>
            </a:r>
          </a:p>
        </p:txBody>
      </p:sp>
      <p:pic>
        <p:nvPicPr>
          <p:cNvPr id="31" name="Image 30" descr="Une image contenant capture d’écran, motif, Caractère coloré, diagramme&#10;&#10;Le contenu généré par l’IA peut être incorrect.">
            <a:extLst>
              <a:ext uri="{FF2B5EF4-FFF2-40B4-BE49-F238E27FC236}">
                <a16:creationId xmlns:a16="http://schemas.microsoft.com/office/drawing/2014/main" id="{12FA0C23-2A1A-EF46-FF76-6D46910B131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026" t="11031" r="23947" b="10651"/>
          <a:stretch>
            <a:fillRect/>
          </a:stretch>
        </p:blipFill>
        <p:spPr>
          <a:xfrm>
            <a:off x="9844819" y="4032563"/>
            <a:ext cx="616676" cy="603446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5FC4A815-89D9-E87F-01D7-8C7A76E34406}"/>
              </a:ext>
            </a:extLst>
          </p:cNvPr>
          <p:cNvSpPr txBox="1"/>
          <p:nvPr/>
        </p:nvSpPr>
        <p:spPr>
          <a:xfrm>
            <a:off x="5597028" y="3710756"/>
            <a:ext cx="1479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Neuronal Matrix</a:t>
            </a:r>
          </a:p>
        </p:txBody>
      </p: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4A868E61-84D8-3E87-353C-DAD5F9E5B099}"/>
              </a:ext>
            </a:extLst>
          </p:cNvPr>
          <p:cNvCxnSpPr>
            <a:cxnSpLocks/>
          </p:cNvCxnSpPr>
          <p:nvPr/>
        </p:nvCxnSpPr>
        <p:spPr>
          <a:xfrm>
            <a:off x="8844340" y="3886961"/>
            <a:ext cx="734096" cy="28366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2620B675-EE30-8774-47D6-11C93BE243A9}"/>
              </a:ext>
            </a:extLst>
          </p:cNvPr>
          <p:cNvCxnSpPr>
            <a:cxnSpLocks/>
          </p:cNvCxnSpPr>
          <p:nvPr/>
        </p:nvCxnSpPr>
        <p:spPr>
          <a:xfrm flipV="1">
            <a:off x="8844340" y="4412033"/>
            <a:ext cx="734096" cy="2809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ZoneTexte 52">
            <a:extLst>
              <a:ext uri="{FF2B5EF4-FFF2-40B4-BE49-F238E27FC236}">
                <a16:creationId xmlns:a16="http://schemas.microsoft.com/office/drawing/2014/main" id="{9DEE428D-6D69-EB28-8683-26A5BF2EADEA}"/>
              </a:ext>
            </a:extLst>
          </p:cNvPr>
          <p:cNvSpPr txBox="1"/>
          <p:nvPr/>
        </p:nvSpPr>
        <p:spPr>
          <a:xfrm>
            <a:off x="9525421" y="3619569"/>
            <a:ext cx="1255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Model Matrix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F984B371-6D61-67E4-93F8-0EE2A996FDE4}"/>
              </a:ext>
            </a:extLst>
          </p:cNvPr>
          <p:cNvSpPr txBox="1"/>
          <p:nvPr/>
        </p:nvSpPr>
        <p:spPr>
          <a:xfrm>
            <a:off x="5859640" y="2632485"/>
            <a:ext cx="5969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Is </a:t>
            </a:r>
            <a:r>
              <a:rPr lang="fr-FR" sz="1600" b="1" dirty="0"/>
              <a:t>more</a:t>
            </a:r>
            <a:r>
              <a:rPr lang="fr-FR" sz="1600" dirty="0"/>
              <a:t> </a:t>
            </a:r>
            <a:r>
              <a:rPr lang="fr-FR" sz="1600" b="1" dirty="0"/>
              <a:t>anti-</a:t>
            </a:r>
            <a:r>
              <a:rPr lang="fr-FR" sz="1600" b="1" dirty="0" err="1"/>
              <a:t>correlated</a:t>
            </a:r>
            <a:r>
              <a:rPr lang="fr-FR" sz="1600" b="1" dirty="0"/>
              <a:t> </a:t>
            </a:r>
            <a:r>
              <a:rPr lang="fr-FR" sz="1600" dirty="0"/>
              <a:t>[-1,0] </a:t>
            </a:r>
            <a:r>
              <a:rPr lang="fr-FR" sz="1600" dirty="0" err="1"/>
              <a:t>treated</a:t>
            </a:r>
            <a:r>
              <a:rPr lang="fr-FR" sz="1600" dirty="0"/>
              <a:t> </a:t>
            </a:r>
            <a:r>
              <a:rPr lang="fr-FR" sz="1600" dirty="0" err="1"/>
              <a:t>differently</a:t>
            </a:r>
            <a:r>
              <a:rPr lang="fr-FR" sz="1600" dirty="0"/>
              <a:t> </a:t>
            </a:r>
            <a:r>
              <a:rPr lang="fr-FR" sz="1600" dirty="0" err="1"/>
              <a:t>than</a:t>
            </a:r>
            <a:r>
              <a:rPr lang="fr-FR" sz="1600" dirty="0"/>
              <a:t> </a:t>
            </a:r>
            <a:r>
              <a:rPr lang="fr-FR" sz="1600" b="1" dirty="0" err="1">
                <a:solidFill>
                  <a:srgbClr val="0070C0"/>
                </a:solidFill>
              </a:rPr>
              <a:t>less</a:t>
            </a:r>
            <a:r>
              <a:rPr lang="fr-FR" sz="1600" b="1" dirty="0"/>
              <a:t> </a:t>
            </a:r>
            <a:r>
              <a:rPr lang="fr-FR" sz="1600" b="1" dirty="0" err="1">
                <a:solidFill>
                  <a:srgbClr val="0070C0"/>
                </a:solidFill>
              </a:rPr>
              <a:t>correlated</a:t>
            </a:r>
            <a:r>
              <a:rPr lang="fr-FR" sz="1600" b="1" dirty="0"/>
              <a:t> </a:t>
            </a:r>
            <a:r>
              <a:rPr lang="fr-FR" sz="1600" dirty="0"/>
              <a:t>[0,1] ?</a:t>
            </a:r>
            <a:endParaRPr lang="fr-FR" sz="1600" b="1" dirty="0"/>
          </a:p>
        </p:txBody>
      </p:sp>
      <p:pic>
        <p:nvPicPr>
          <p:cNvPr id="4" name="Image 3" descr="Une image contenant capture d’écran, Caractère coloré, diagramme, carré&#10;&#10;Le contenu généré par l’IA peut être incorrect.">
            <a:extLst>
              <a:ext uri="{FF2B5EF4-FFF2-40B4-BE49-F238E27FC236}">
                <a16:creationId xmlns:a16="http://schemas.microsoft.com/office/drawing/2014/main" id="{258EED33-137C-D618-DB16-83790745B16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5605"/>
          <a:stretch>
            <a:fillRect/>
          </a:stretch>
        </p:blipFill>
        <p:spPr>
          <a:xfrm>
            <a:off x="2424858" y="2308301"/>
            <a:ext cx="1123721" cy="3454804"/>
          </a:xfrm>
          <a:prstGeom prst="rect">
            <a:avLst/>
          </a:prstGeom>
        </p:spPr>
      </p:pic>
      <p:sp>
        <p:nvSpPr>
          <p:cNvPr id="7" name="Flèche vers le haut 6">
            <a:extLst>
              <a:ext uri="{FF2B5EF4-FFF2-40B4-BE49-F238E27FC236}">
                <a16:creationId xmlns:a16="http://schemas.microsoft.com/office/drawing/2014/main" id="{C66EA6BD-D951-1AA3-E2EB-28D29D086C5D}"/>
              </a:ext>
            </a:extLst>
          </p:cNvPr>
          <p:cNvSpPr/>
          <p:nvPr/>
        </p:nvSpPr>
        <p:spPr>
          <a:xfrm rot="10800000">
            <a:off x="4635602" y="4552027"/>
            <a:ext cx="270163" cy="727364"/>
          </a:xfrm>
          <a:prstGeom prst="upArrow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lèche vers le haut 8">
            <a:extLst>
              <a:ext uri="{FF2B5EF4-FFF2-40B4-BE49-F238E27FC236}">
                <a16:creationId xmlns:a16="http://schemas.microsoft.com/office/drawing/2014/main" id="{A3507F4C-3CED-1D1E-AA97-9D27ACE5B428}"/>
              </a:ext>
            </a:extLst>
          </p:cNvPr>
          <p:cNvSpPr/>
          <p:nvPr/>
        </p:nvSpPr>
        <p:spPr>
          <a:xfrm rot="10800000">
            <a:off x="4647056" y="3179301"/>
            <a:ext cx="270163" cy="727364"/>
          </a:xfrm>
          <a:prstGeom prst="upArrow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070C0"/>
              </a:solidFill>
            </a:endParaRP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901C839B-8845-0BC9-A261-931B85C20024}"/>
              </a:ext>
            </a:extLst>
          </p:cNvPr>
          <p:cNvCxnSpPr>
            <a:cxnSpLocks/>
          </p:cNvCxnSpPr>
          <p:nvPr/>
        </p:nvCxnSpPr>
        <p:spPr>
          <a:xfrm flipV="1">
            <a:off x="3316630" y="3072870"/>
            <a:ext cx="0" cy="1098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1886DA77-5A62-7DA2-155C-836080E178BC}"/>
              </a:ext>
            </a:extLst>
          </p:cNvPr>
          <p:cNvCxnSpPr>
            <a:cxnSpLocks/>
          </p:cNvCxnSpPr>
          <p:nvPr/>
        </p:nvCxnSpPr>
        <p:spPr>
          <a:xfrm>
            <a:off x="3316630" y="4323820"/>
            <a:ext cx="0" cy="1183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7D5CCB7F-59FC-698F-2808-B88F108D63AF}"/>
              </a:ext>
            </a:extLst>
          </p:cNvPr>
          <p:cNvSpPr txBox="1"/>
          <p:nvPr/>
        </p:nvSpPr>
        <p:spPr>
          <a:xfrm>
            <a:off x="3523335" y="2988185"/>
            <a:ext cx="995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/>
              <a:t>Correlated</a:t>
            </a:r>
            <a:endParaRPr lang="fr-FR" sz="14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3BA5A80-06A5-B699-C07E-49E36756F637}"/>
              </a:ext>
            </a:extLst>
          </p:cNvPr>
          <p:cNvSpPr txBox="1"/>
          <p:nvPr/>
        </p:nvSpPr>
        <p:spPr>
          <a:xfrm>
            <a:off x="3523335" y="5353709"/>
            <a:ext cx="1339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Anti-</a:t>
            </a:r>
            <a:r>
              <a:rPr lang="fr-FR" sz="1400" dirty="0" err="1"/>
              <a:t>correlated</a:t>
            </a:r>
            <a:endParaRPr lang="fr-FR" sz="1400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7842DC5-535A-5784-5B3B-31EF876600B2}"/>
              </a:ext>
            </a:extLst>
          </p:cNvPr>
          <p:cNvSpPr txBox="1"/>
          <p:nvPr/>
        </p:nvSpPr>
        <p:spPr>
          <a:xfrm>
            <a:off x="3484121" y="4073513"/>
            <a:ext cx="1352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No </a:t>
            </a:r>
            <a:r>
              <a:rPr lang="fr-FR" sz="1400" dirty="0" err="1"/>
              <a:t>Correlation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670508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26" grpId="0" animBg="1"/>
      <p:bldP spid="27" grpId="0" animBg="1"/>
      <p:bldP spid="28" grpId="0"/>
      <p:bldP spid="29" grpId="0"/>
      <p:bldP spid="32" grpId="0"/>
      <p:bldP spid="53" grpId="0"/>
      <p:bldP spid="56" grpId="0"/>
      <p:bldP spid="7" grpId="0" animBg="1"/>
      <p:bldP spid="7" grpId="1" animBg="1"/>
      <p:bldP spid="9" grpId="0" animBg="1"/>
      <p:bldP spid="9" grpId="1" animBg="1"/>
      <p:bldP spid="12" grpId="0"/>
      <p:bldP spid="12" grpId="1"/>
      <p:bldP spid="14" grpId="0"/>
      <p:bldP spid="14" grpId="1"/>
      <p:bldP spid="16" grpId="0"/>
      <p:bldP spid="16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6D640-3821-1F68-A932-6696D3D64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67EE16-62E4-C615-3502-4BAF4CC98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Results</a:t>
            </a:r>
            <a:r>
              <a:rPr lang="fr-FR" dirty="0"/>
              <a:t> : Pearson vs </a:t>
            </a:r>
            <a:r>
              <a:rPr lang="fr-FR" dirty="0" err="1"/>
              <a:t>euclidean</a:t>
            </a:r>
            <a:endParaRPr lang="fr-FR" dirty="0"/>
          </a:p>
        </p:txBody>
      </p:sp>
      <p:pic>
        <p:nvPicPr>
          <p:cNvPr id="5" name="Picture 6" descr="Identité ‒ Organisation et identité ‐ EPFL">
            <a:extLst>
              <a:ext uri="{FF2B5EF4-FFF2-40B4-BE49-F238E27FC236}">
                <a16:creationId xmlns:a16="http://schemas.microsoft.com/office/drawing/2014/main" id="{0D54457E-5825-7AC2-4BF3-2EDB29E84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8178" y="170796"/>
            <a:ext cx="844979" cy="47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7EFAAA2-57BF-F99F-BBB0-4F28EEA7BAD4}"/>
              </a:ext>
            </a:extLst>
          </p:cNvPr>
          <p:cNvSpPr txBox="1"/>
          <p:nvPr/>
        </p:nvSpPr>
        <p:spPr>
          <a:xfrm>
            <a:off x="10066464" y="233628"/>
            <a:ext cx="132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 </a:t>
            </a:r>
            <a:r>
              <a:rPr lang="fr-CH" dirty="0" err="1"/>
              <a:t>MIP:Lab</a:t>
            </a:r>
            <a:endParaRPr lang="fr-CH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A321EAA-0AD7-B5F0-4D58-AD538CBD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19</a:t>
            </a:fld>
            <a:endParaRPr 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5005A2D-9F7E-9BF9-0E95-6796D7B199F6}"/>
              </a:ext>
            </a:extLst>
          </p:cNvPr>
          <p:cNvSpPr txBox="1"/>
          <p:nvPr/>
        </p:nvSpPr>
        <p:spPr>
          <a:xfrm>
            <a:off x="533484" y="1938969"/>
            <a:ext cx="4629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1. Use </a:t>
            </a:r>
            <a:r>
              <a:rPr lang="fr-FR" dirty="0" err="1"/>
              <a:t>euclidean</a:t>
            </a:r>
            <a:r>
              <a:rPr lang="fr-FR" dirty="0"/>
              <a:t> distance as neuronal </a:t>
            </a:r>
            <a:r>
              <a:rPr lang="fr-FR" dirty="0" err="1"/>
              <a:t>metric</a:t>
            </a:r>
            <a:endParaRPr lang="fr-FR" dirty="0"/>
          </a:p>
        </p:txBody>
      </p:sp>
      <p:pic>
        <p:nvPicPr>
          <p:cNvPr id="15" name="Image 14" descr="Une image contenant texte, capture d’écran, ligne, diagramme&#10;&#10;Le contenu généré par l’IA peut être incorrect.">
            <a:extLst>
              <a:ext uri="{FF2B5EF4-FFF2-40B4-BE49-F238E27FC236}">
                <a16:creationId xmlns:a16="http://schemas.microsoft.com/office/drawing/2014/main" id="{409ECF5C-7C0D-8D7A-2A0F-01CF85455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2614" y="2734563"/>
            <a:ext cx="2828045" cy="2415821"/>
          </a:xfrm>
          <a:prstGeom prst="rect">
            <a:avLst/>
          </a:prstGeom>
        </p:spPr>
      </p:pic>
      <p:pic>
        <p:nvPicPr>
          <p:cNvPr id="17" name="Image 16" descr="Une image contenant texte, capture d’écran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EBFB22CD-037C-25E7-F13C-3BA2F845AB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3072" y="2627132"/>
            <a:ext cx="2727595" cy="1826974"/>
          </a:xfrm>
          <a:prstGeom prst="rect">
            <a:avLst/>
          </a:prstGeom>
        </p:spPr>
      </p:pic>
      <p:sp>
        <p:nvSpPr>
          <p:cNvPr id="54" name="ZoneTexte 53">
            <a:extLst>
              <a:ext uri="{FF2B5EF4-FFF2-40B4-BE49-F238E27FC236}">
                <a16:creationId xmlns:a16="http://schemas.microsoft.com/office/drawing/2014/main" id="{657AB60B-2E29-D214-E704-2BE9836AC64C}"/>
              </a:ext>
            </a:extLst>
          </p:cNvPr>
          <p:cNvSpPr txBox="1"/>
          <p:nvPr/>
        </p:nvSpPr>
        <p:spPr>
          <a:xfrm>
            <a:off x="6219710" y="4754973"/>
            <a:ext cx="4759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/>
              <a:t>Defends</a:t>
            </a:r>
            <a:r>
              <a:rPr lang="fr-FR" sz="1400" dirty="0"/>
              <a:t> the </a:t>
            </a:r>
            <a:r>
              <a:rPr lang="fr-FR" sz="1400" dirty="0" err="1"/>
              <a:t>linear</a:t>
            </a:r>
            <a:r>
              <a:rPr lang="fr-FR" sz="1400" dirty="0"/>
              <a:t> aspect of </a:t>
            </a:r>
            <a:r>
              <a:rPr lang="fr-FR" sz="1400" dirty="0" err="1"/>
              <a:t>similarity</a:t>
            </a:r>
            <a:r>
              <a:rPr lang="fr-FR" sz="1400" dirty="0"/>
              <a:t> </a:t>
            </a:r>
            <a:r>
              <a:rPr lang="fr-FR" sz="1400" dirty="0" err="1"/>
              <a:t>emerging</a:t>
            </a:r>
            <a:r>
              <a:rPr lang="fr-FR" sz="1400" dirty="0"/>
              <a:t> </a:t>
            </a:r>
            <a:r>
              <a:rPr lang="fr-FR" sz="1400" dirty="0" err="1"/>
              <a:t>from</a:t>
            </a:r>
            <a:r>
              <a:rPr lang="fr-FR" sz="1400" dirty="0"/>
              <a:t> </a:t>
            </a:r>
            <a:r>
              <a:rPr lang="fr-FR" sz="1400" dirty="0" err="1"/>
              <a:t>pearson’s</a:t>
            </a:r>
            <a:r>
              <a:rPr lang="fr-FR" sz="1400" dirty="0"/>
              <a:t> coefficient 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FA1F5D7-3AB5-3C18-B71E-DDDFC34B4B7E}"/>
              </a:ext>
            </a:extLst>
          </p:cNvPr>
          <p:cNvSpPr txBox="1"/>
          <p:nvPr/>
        </p:nvSpPr>
        <p:spPr>
          <a:xfrm>
            <a:off x="5859640" y="1938969"/>
            <a:ext cx="5538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2. </a:t>
            </a:r>
            <a:r>
              <a:rPr lang="fr-FR" dirty="0" err="1"/>
              <a:t>Separative</a:t>
            </a:r>
            <a:r>
              <a:rPr lang="fr-FR" dirty="0"/>
              <a:t> </a:t>
            </a:r>
            <a:r>
              <a:rPr lang="fr-FR" dirty="0" err="1"/>
              <a:t>positve</a:t>
            </a:r>
            <a:r>
              <a:rPr lang="fr-FR" dirty="0"/>
              <a:t> and </a:t>
            </a:r>
            <a:r>
              <a:rPr lang="fr-FR" dirty="0" err="1"/>
              <a:t>negative</a:t>
            </a:r>
            <a:r>
              <a:rPr lang="fr-FR" dirty="0"/>
              <a:t> </a:t>
            </a:r>
            <a:r>
              <a:rPr lang="fr-FR" dirty="0" err="1"/>
              <a:t>pearson’s</a:t>
            </a:r>
            <a:r>
              <a:rPr lang="fr-FR" dirty="0"/>
              <a:t> </a:t>
            </a:r>
            <a:r>
              <a:rPr lang="fr-FR" dirty="0" err="1"/>
              <a:t>correlation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724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044C3-52C5-18E1-737C-42586D6EF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FE9D7F-A3C1-CFA6-6BBB-8C84CFAC7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Results</a:t>
            </a:r>
            <a:r>
              <a:rPr lang="fr-FR" dirty="0"/>
              <a:t> : Back to the GLM</a:t>
            </a:r>
          </a:p>
        </p:txBody>
      </p:sp>
      <p:pic>
        <p:nvPicPr>
          <p:cNvPr id="5" name="Picture 6" descr="Identité ‒ Organisation et identité ‐ EPFL">
            <a:extLst>
              <a:ext uri="{FF2B5EF4-FFF2-40B4-BE49-F238E27FC236}">
                <a16:creationId xmlns:a16="http://schemas.microsoft.com/office/drawing/2014/main" id="{21000E5E-545C-64B4-2483-0361B61B4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8178" y="170796"/>
            <a:ext cx="844979" cy="47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D8E506B-687F-80C9-26F3-862751562B67}"/>
              </a:ext>
            </a:extLst>
          </p:cNvPr>
          <p:cNvSpPr txBox="1"/>
          <p:nvPr/>
        </p:nvSpPr>
        <p:spPr>
          <a:xfrm>
            <a:off x="10066464" y="233628"/>
            <a:ext cx="132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 </a:t>
            </a:r>
            <a:r>
              <a:rPr lang="fr-CH" dirty="0" err="1"/>
              <a:t>MIP:Lab</a:t>
            </a:r>
            <a:endParaRPr lang="fr-CH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033303F-A0B0-B91B-8C6F-A6DF3C6AE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20</a:t>
            </a:fld>
            <a:endParaRPr lang="en-US"/>
          </a:p>
        </p:txBody>
      </p:sp>
      <p:pic>
        <p:nvPicPr>
          <p:cNvPr id="1026" name="Picture 2" descr="Plot of design matrix for 0.">
            <a:extLst>
              <a:ext uri="{FF2B5EF4-FFF2-40B4-BE49-F238E27FC236}">
                <a16:creationId xmlns:a16="http://schemas.microsoft.com/office/drawing/2014/main" id="{A6DC725A-0480-B449-6306-5612414D7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0984" y="2946737"/>
            <a:ext cx="9030032" cy="2923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335AF16C-580A-E337-99F6-69A6618AF801}"/>
              </a:ext>
            </a:extLst>
          </p:cNvPr>
          <p:cNvSpPr txBox="1"/>
          <p:nvPr/>
        </p:nvSpPr>
        <p:spPr>
          <a:xfrm>
            <a:off x="1028700" y="1901154"/>
            <a:ext cx="43649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Correction of the design matrix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Addition of first and second </a:t>
            </a:r>
            <a:r>
              <a:rPr lang="fr-FR" dirty="0" err="1"/>
              <a:t>derivatives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872960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BA212-3488-9244-6C6F-32CF8F999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599826-98AA-E9FB-F47C-F4B32F39B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Results</a:t>
            </a:r>
            <a:r>
              <a:rPr lang="fr-FR" dirty="0"/>
              <a:t> : Back to the GLM</a:t>
            </a:r>
          </a:p>
        </p:txBody>
      </p:sp>
      <p:pic>
        <p:nvPicPr>
          <p:cNvPr id="5" name="Picture 6" descr="Identité ‒ Organisation et identité ‐ EPFL">
            <a:extLst>
              <a:ext uri="{FF2B5EF4-FFF2-40B4-BE49-F238E27FC236}">
                <a16:creationId xmlns:a16="http://schemas.microsoft.com/office/drawing/2014/main" id="{543E23DA-97C5-5E28-5D53-A7BACA7D7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8178" y="170796"/>
            <a:ext cx="844979" cy="47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B88E154-B86F-DF46-9929-E9F11BC336D0}"/>
              </a:ext>
            </a:extLst>
          </p:cNvPr>
          <p:cNvSpPr txBox="1"/>
          <p:nvPr/>
        </p:nvSpPr>
        <p:spPr>
          <a:xfrm>
            <a:off x="10066464" y="233628"/>
            <a:ext cx="132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 </a:t>
            </a:r>
            <a:r>
              <a:rPr lang="fr-CH" dirty="0" err="1"/>
              <a:t>MIP:Lab</a:t>
            </a:r>
            <a:endParaRPr lang="fr-CH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75B7CD9-1E5D-36A5-C5BB-E6EFDC6B4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21</a:t>
            </a:fld>
            <a:endParaRPr lang="en-US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77196F7-288A-2D5D-50B2-361EAA5B2AAB}"/>
              </a:ext>
            </a:extLst>
          </p:cNvPr>
          <p:cNvSpPr txBox="1"/>
          <p:nvPr/>
        </p:nvSpPr>
        <p:spPr>
          <a:xfrm>
            <a:off x="4704342" y="2164100"/>
            <a:ext cx="2458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Old vs. New </a:t>
            </a:r>
            <a:r>
              <a:rPr lang="fr-FR" b="1" dirty="0" err="1"/>
              <a:t>Contrast</a:t>
            </a:r>
            <a:r>
              <a:rPr lang="fr-FR" b="1" dirty="0"/>
              <a:t> 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6990AA4-1497-9309-31BB-6EFC3C0990D0}"/>
              </a:ext>
            </a:extLst>
          </p:cNvPr>
          <p:cNvSpPr txBox="1"/>
          <p:nvPr/>
        </p:nvSpPr>
        <p:spPr>
          <a:xfrm>
            <a:off x="1457743" y="3059668"/>
            <a:ext cx="1925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At the group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D297A40-588F-10F0-5E08-C1A196C6DE8E}"/>
              </a:ext>
            </a:extLst>
          </p:cNvPr>
          <p:cNvSpPr txBox="1"/>
          <p:nvPr/>
        </p:nvSpPr>
        <p:spPr>
          <a:xfrm>
            <a:off x="8296683" y="3059668"/>
            <a:ext cx="202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At the </a:t>
            </a:r>
            <a:r>
              <a:rPr lang="fr-FR" dirty="0" err="1"/>
              <a:t>subject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FD411081-378A-A80B-ACB0-14D09A35CA70}"/>
              </a:ext>
            </a:extLst>
          </p:cNvPr>
          <p:cNvSpPr txBox="1"/>
          <p:nvPr/>
        </p:nvSpPr>
        <p:spPr>
          <a:xfrm>
            <a:off x="1269878" y="3891205"/>
            <a:ext cx="27707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No </a:t>
            </a:r>
            <a:r>
              <a:rPr lang="fr-FR" sz="1400" dirty="0" err="1"/>
              <a:t>significant</a:t>
            </a:r>
            <a:r>
              <a:rPr lang="fr-FR" sz="1400" dirty="0"/>
              <a:t> cluster for all </a:t>
            </a:r>
            <a:r>
              <a:rPr lang="fr-FR" sz="1400" dirty="0" err="1"/>
              <a:t>three</a:t>
            </a:r>
            <a:r>
              <a:rPr lang="fr-FR" sz="1400" dirty="0"/>
              <a:t> </a:t>
            </a:r>
            <a:r>
              <a:rPr lang="fr-FR" sz="1400" b="1" dirty="0" err="1"/>
              <a:t>pre</a:t>
            </a:r>
            <a:r>
              <a:rPr lang="fr-FR" sz="1400" dirty="0"/>
              <a:t>, </a:t>
            </a:r>
            <a:r>
              <a:rPr lang="fr-FR" sz="1400" b="1" dirty="0"/>
              <a:t>post</a:t>
            </a:r>
            <a:r>
              <a:rPr lang="fr-FR" sz="1400" dirty="0"/>
              <a:t> and </a:t>
            </a:r>
            <a:r>
              <a:rPr lang="fr-FR" sz="1400" b="1" dirty="0"/>
              <a:t>post-</a:t>
            </a:r>
            <a:r>
              <a:rPr lang="fr-FR" sz="1400" b="1" dirty="0" err="1"/>
              <a:t>pre</a:t>
            </a:r>
            <a:r>
              <a:rPr lang="fr-FR" sz="1400" dirty="0"/>
              <a:t> sessions </a:t>
            </a:r>
            <a:r>
              <a:rPr lang="fr-FR" sz="1400" dirty="0" err="1"/>
              <a:t>after</a:t>
            </a:r>
            <a:r>
              <a:rPr lang="fr-FR" sz="1400" dirty="0"/>
              <a:t> FDR Correction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43BFB4A9-7A02-97F0-68F0-F8AE402BF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6950" y="3590892"/>
            <a:ext cx="4127500" cy="23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45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848BC-1466-8A07-A7DF-A41ED6023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1A6AC6-5485-D639-5784-2D2F75FB6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Results</a:t>
            </a:r>
            <a:r>
              <a:rPr lang="fr-FR" dirty="0"/>
              <a:t> : Back to the GLM</a:t>
            </a:r>
          </a:p>
        </p:txBody>
      </p:sp>
      <p:pic>
        <p:nvPicPr>
          <p:cNvPr id="5" name="Picture 6" descr="Identité ‒ Organisation et identité ‐ EPFL">
            <a:extLst>
              <a:ext uri="{FF2B5EF4-FFF2-40B4-BE49-F238E27FC236}">
                <a16:creationId xmlns:a16="http://schemas.microsoft.com/office/drawing/2014/main" id="{DC620A93-BB93-4A23-7D92-F9471328B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8178" y="170796"/>
            <a:ext cx="844979" cy="47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E95FEC8-0939-9B37-2C57-D983D8B8EE04}"/>
              </a:ext>
            </a:extLst>
          </p:cNvPr>
          <p:cNvSpPr txBox="1"/>
          <p:nvPr/>
        </p:nvSpPr>
        <p:spPr>
          <a:xfrm>
            <a:off x="10066464" y="233628"/>
            <a:ext cx="132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 </a:t>
            </a:r>
            <a:r>
              <a:rPr lang="fr-CH" dirty="0" err="1"/>
              <a:t>MIP:Lab</a:t>
            </a:r>
            <a:endParaRPr lang="fr-CH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8537808-1761-1332-719F-08BA13D0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22</a:t>
            </a:fld>
            <a:endParaRPr lang="en-US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913F9F2-252D-A9F7-4BD8-50575982CB65}"/>
              </a:ext>
            </a:extLst>
          </p:cNvPr>
          <p:cNvSpPr txBox="1"/>
          <p:nvPr/>
        </p:nvSpPr>
        <p:spPr>
          <a:xfrm>
            <a:off x="4599986" y="1852660"/>
            <a:ext cx="1989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Random</a:t>
            </a:r>
            <a:r>
              <a:rPr lang="fr-FR" b="1" dirty="0"/>
              <a:t> </a:t>
            </a:r>
            <a:r>
              <a:rPr lang="fr-FR" b="1" dirty="0" err="1"/>
              <a:t>Contrast</a:t>
            </a:r>
            <a:endParaRPr lang="fr-FR" b="1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7DB2E83-6D73-0D2A-0BE9-256E0CFAC1AB}"/>
              </a:ext>
            </a:extLst>
          </p:cNvPr>
          <p:cNvSpPr txBox="1"/>
          <p:nvPr/>
        </p:nvSpPr>
        <p:spPr>
          <a:xfrm>
            <a:off x="1831325" y="2379543"/>
            <a:ext cx="7899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/>
              <a:t>Randomly</a:t>
            </a:r>
            <a:r>
              <a:rPr lang="fr-FR" sz="1400" dirty="0"/>
              <a:t> </a:t>
            </a:r>
            <a:r>
              <a:rPr lang="fr-FR" sz="1400" dirty="0" err="1"/>
              <a:t>create</a:t>
            </a:r>
            <a:r>
              <a:rPr lang="fr-FR" sz="1400" dirty="0"/>
              <a:t> </a:t>
            </a:r>
            <a:r>
              <a:rPr lang="fr-FR" sz="1400" dirty="0" err="1"/>
              <a:t>two</a:t>
            </a:r>
            <a:r>
              <a:rPr lang="fr-FR" sz="1400" dirty="0"/>
              <a:t> groups of trials </a:t>
            </a:r>
            <a:r>
              <a:rPr lang="fr-FR" sz="1400" dirty="0" err="1"/>
              <a:t>with</a:t>
            </a:r>
            <a:r>
              <a:rPr lang="fr-FR" sz="1400" dirty="0"/>
              <a:t> </a:t>
            </a:r>
            <a:r>
              <a:rPr lang="fr-FR" sz="1400" b="1" dirty="0" err="1"/>
              <a:t>equal</a:t>
            </a:r>
            <a:r>
              <a:rPr lang="fr-FR" sz="1400" b="1" dirty="0"/>
              <a:t> </a:t>
            </a:r>
            <a:r>
              <a:rPr lang="fr-FR" sz="1400" b="1" dirty="0" err="1"/>
              <a:t>mean</a:t>
            </a:r>
            <a:r>
              <a:rPr lang="fr-FR" sz="1400" b="1" dirty="0"/>
              <a:t> </a:t>
            </a:r>
            <a:r>
              <a:rPr lang="fr-FR" sz="1400" b="1" dirty="0" err="1"/>
              <a:t>onset</a:t>
            </a:r>
            <a:r>
              <a:rPr lang="fr-FR" sz="1400" b="1" dirty="0"/>
              <a:t> time, duration, classes and </a:t>
            </a:r>
            <a:r>
              <a:rPr lang="fr-FR" sz="1400" b="1" dirty="0" err="1"/>
              <a:t>old</a:t>
            </a:r>
            <a:r>
              <a:rPr lang="fr-FR" sz="1400" b="1" dirty="0"/>
              <a:t> vs. new</a:t>
            </a:r>
            <a:endParaRPr lang="fr-FR" sz="14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5E0CFD9-400D-D89F-B266-CBADCEC7B26B}"/>
              </a:ext>
            </a:extLst>
          </p:cNvPr>
          <p:cNvSpPr txBox="1"/>
          <p:nvPr/>
        </p:nvSpPr>
        <p:spPr>
          <a:xfrm>
            <a:off x="1457743" y="3059668"/>
            <a:ext cx="1925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At the group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A90698F-3D44-5863-22A1-166BC802D442}"/>
              </a:ext>
            </a:extLst>
          </p:cNvPr>
          <p:cNvSpPr txBox="1"/>
          <p:nvPr/>
        </p:nvSpPr>
        <p:spPr>
          <a:xfrm>
            <a:off x="1269878" y="3891205"/>
            <a:ext cx="27707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No </a:t>
            </a:r>
            <a:r>
              <a:rPr lang="fr-FR" sz="1400" dirty="0" err="1"/>
              <a:t>significant</a:t>
            </a:r>
            <a:r>
              <a:rPr lang="fr-FR" sz="1400" dirty="0"/>
              <a:t> cluster for all </a:t>
            </a:r>
            <a:r>
              <a:rPr lang="fr-FR" sz="1400" dirty="0" err="1"/>
              <a:t>three</a:t>
            </a:r>
            <a:r>
              <a:rPr lang="fr-FR" sz="1400" dirty="0"/>
              <a:t> </a:t>
            </a:r>
            <a:r>
              <a:rPr lang="fr-FR" sz="1400" b="1" dirty="0" err="1"/>
              <a:t>pre</a:t>
            </a:r>
            <a:r>
              <a:rPr lang="fr-FR" sz="1400" dirty="0"/>
              <a:t>, </a:t>
            </a:r>
            <a:r>
              <a:rPr lang="fr-FR" sz="1400" b="1" dirty="0"/>
              <a:t>post</a:t>
            </a:r>
            <a:r>
              <a:rPr lang="fr-FR" sz="1400" dirty="0"/>
              <a:t> and </a:t>
            </a:r>
            <a:r>
              <a:rPr lang="fr-FR" sz="1400" b="1" dirty="0"/>
              <a:t>post-</a:t>
            </a:r>
            <a:r>
              <a:rPr lang="fr-FR" sz="1400" b="1" dirty="0" err="1"/>
              <a:t>pre</a:t>
            </a:r>
            <a:r>
              <a:rPr lang="fr-FR" sz="1400" dirty="0"/>
              <a:t> sessions </a:t>
            </a:r>
            <a:r>
              <a:rPr lang="fr-FR" sz="1400" dirty="0" err="1"/>
              <a:t>after</a:t>
            </a:r>
            <a:r>
              <a:rPr lang="fr-FR" sz="1400" dirty="0"/>
              <a:t> FDR Correction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A5E7446-B1CB-A8A9-31AA-1A4EE8E9B818}"/>
              </a:ext>
            </a:extLst>
          </p:cNvPr>
          <p:cNvSpPr txBox="1"/>
          <p:nvPr/>
        </p:nvSpPr>
        <p:spPr>
          <a:xfrm>
            <a:off x="8296683" y="3059668"/>
            <a:ext cx="202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At the </a:t>
            </a:r>
            <a:r>
              <a:rPr lang="fr-FR" dirty="0" err="1"/>
              <a:t>subject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95007614-57AC-0D7C-ADF1-70CB16B98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827" y="3568700"/>
            <a:ext cx="4127500" cy="237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279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2081F-43A3-C608-72AD-19A0C8C14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3F6565-A2B8-619A-80CB-7D43E3318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Results</a:t>
            </a:r>
            <a:r>
              <a:rPr lang="fr-FR" dirty="0"/>
              <a:t> : Back to the GLM</a:t>
            </a:r>
          </a:p>
        </p:txBody>
      </p:sp>
      <p:pic>
        <p:nvPicPr>
          <p:cNvPr id="5" name="Picture 6" descr="Identité ‒ Organisation et identité ‐ EPFL">
            <a:extLst>
              <a:ext uri="{FF2B5EF4-FFF2-40B4-BE49-F238E27FC236}">
                <a16:creationId xmlns:a16="http://schemas.microsoft.com/office/drawing/2014/main" id="{6996C0C5-8D6D-A515-DAAE-B2FFABD21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8178" y="170796"/>
            <a:ext cx="844979" cy="47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80B9695-5424-0C57-84D1-A7E5B5C49F99}"/>
              </a:ext>
            </a:extLst>
          </p:cNvPr>
          <p:cNvSpPr txBox="1"/>
          <p:nvPr/>
        </p:nvSpPr>
        <p:spPr>
          <a:xfrm>
            <a:off x="10066464" y="233628"/>
            <a:ext cx="132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 </a:t>
            </a:r>
            <a:r>
              <a:rPr lang="fr-CH" dirty="0" err="1"/>
              <a:t>MIP:Lab</a:t>
            </a:r>
            <a:endParaRPr lang="fr-CH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2F1943A-A80C-4472-8E65-27C4A43D0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23</a:t>
            </a:fld>
            <a:endParaRPr lang="en-US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F72F346-0B8C-6B6C-5FF7-B712CA09E853}"/>
              </a:ext>
            </a:extLst>
          </p:cNvPr>
          <p:cNvSpPr txBox="1"/>
          <p:nvPr/>
        </p:nvSpPr>
        <p:spPr>
          <a:xfrm>
            <a:off x="8317064" y="1783173"/>
            <a:ext cx="1989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Random</a:t>
            </a:r>
            <a:r>
              <a:rPr lang="fr-FR" b="1" dirty="0"/>
              <a:t> </a:t>
            </a:r>
            <a:r>
              <a:rPr lang="fr-FR" b="1" dirty="0" err="1"/>
              <a:t>Contrast</a:t>
            </a:r>
            <a:endParaRPr lang="fr-FR" b="1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455C772-AC1C-45C3-28C8-ECB7F5AD2D7A}"/>
              </a:ext>
            </a:extLst>
          </p:cNvPr>
          <p:cNvSpPr txBox="1"/>
          <p:nvPr/>
        </p:nvSpPr>
        <p:spPr>
          <a:xfrm>
            <a:off x="8283721" y="2292205"/>
            <a:ext cx="202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At the </a:t>
            </a:r>
            <a:r>
              <a:rPr lang="fr-FR" dirty="0" err="1"/>
              <a:t>subject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EC8CAC2-6486-0860-CD76-797C28FB3D9C}"/>
              </a:ext>
            </a:extLst>
          </p:cNvPr>
          <p:cNvSpPr txBox="1"/>
          <p:nvPr/>
        </p:nvSpPr>
        <p:spPr>
          <a:xfrm>
            <a:off x="2263921" y="2292205"/>
            <a:ext cx="202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At the </a:t>
            </a:r>
            <a:r>
              <a:rPr lang="fr-FR" dirty="0" err="1"/>
              <a:t>subject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29F2846-87CB-8350-0B11-4BF9C1ED3D20}"/>
              </a:ext>
            </a:extLst>
          </p:cNvPr>
          <p:cNvSpPr txBox="1"/>
          <p:nvPr/>
        </p:nvSpPr>
        <p:spPr>
          <a:xfrm>
            <a:off x="2045944" y="1783173"/>
            <a:ext cx="2458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Old vs. New </a:t>
            </a:r>
            <a:r>
              <a:rPr lang="fr-FR" b="1" dirty="0" err="1"/>
              <a:t>Contrast</a:t>
            </a:r>
            <a:r>
              <a:rPr lang="fr-FR" b="1" dirty="0"/>
              <a:t> 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2B09FAF-697E-9670-BD01-F69D2E0D054D}"/>
              </a:ext>
            </a:extLst>
          </p:cNvPr>
          <p:cNvSpPr txBox="1"/>
          <p:nvPr/>
        </p:nvSpPr>
        <p:spPr>
          <a:xfrm>
            <a:off x="3944723" y="5066729"/>
            <a:ext cx="4130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There </a:t>
            </a:r>
            <a:r>
              <a:rPr lang="fr-FR" sz="1400" dirty="0" err="1"/>
              <a:t>still</a:t>
            </a:r>
            <a:r>
              <a:rPr lang="fr-FR" sz="1400" dirty="0"/>
              <a:t> </a:t>
            </a:r>
            <a:r>
              <a:rPr lang="fr-FR" sz="1400" dirty="0" err="1"/>
              <a:t>seems</a:t>
            </a:r>
            <a:r>
              <a:rPr lang="fr-FR" sz="1400" dirty="0"/>
              <a:t> to </a:t>
            </a:r>
            <a:r>
              <a:rPr lang="fr-FR" sz="1400" dirty="0" err="1"/>
              <a:t>be</a:t>
            </a:r>
            <a:r>
              <a:rPr lang="fr-FR" sz="1400" dirty="0"/>
              <a:t> an </a:t>
            </a:r>
            <a:r>
              <a:rPr lang="fr-FR" sz="1400" dirty="0" err="1"/>
              <a:t>effect</a:t>
            </a:r>
            <a:r>
              <a:rPr lang="fr-FR" sz="1400" dirty="0"/>
              <a:t> in </a:t>
            </a:r>
            <a:r>
              <a:rPr lang="fr-FR" sz="1400" dirty="0" err="1"/>
              <a:t>some</a:t>
            </a:r>
            <a:r>
              <a:rPr lang="fr-FR" sz="1400" dirty="0"/>
              <a:t> participants</a:t>
            </a:r>
          </a:p>
        </p:txBody>
      </p:sp>
      <p:pic>
        <p:nvPicPr>
          <p:cNvPr id="2050" name="Picture 2" descr="Stat map plot for the contrast: Post_old_vs_new">
            <a:extLst>
              <a:ext uri="{FF2B5EF4-FFF2-40B4-BE49-F238E27FC236}">
                <a16:creationId xmlns:a16="http://schemas.microsoft.com/office/drawing/2014/main" id="{25E97251-ADAD-6B7C-27DC-112C0BC17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054" y="3197974"/>
            <a:ext cx="5008418" cy="1332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tat map plot for the contrast: Post_random">
            <a:extLst>
              <a:ext uri="{FF2B5EF4-FFF2-40B4-BE49-F238E27FC236}">
                <a16:creationId xmlns:a16="http://schemas.microsoft.com/office/drawing/2014/main" id="{2A28C16A-3BA0-7CFC-129C-A162F2B17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269" y="3090765"/>
            <a:ext cx="5541818" cy="1474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58498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DD751-F146-478A-77C4-48807E75D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612A19-07B7-E82F-F8A1-FF9FCFDEB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Conclusions</a:t>
            </a:r>
          </a:p>
        </p:txBody>
      </p:sp>
      <p:pic>
        <p:nvPicPr>
          <p:cNvPr id="5" name="Picture 6" descr="Identité ‒ Organisation et identité ‐ EPFL">
            <a:extLst>
              <a:ext uri="{FF2B5EF4-FFF2-40B4-BE49-F238E27FC236}">
                <a16:creationId xmlns:a16="http://schemas.microsoft.com/office/drawing/2014/main" id="{3B1491F4-8664-614C-57E9-80024D294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8178" y="170796"/>
            <a:ext cx="844979" cy="47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2BA0911-A546-334B-AA87-A35758B57110}"/>
              </a:ext>
            </a:extLst>
          </p:cNvPr>
          <p:cNvSpPr txBox="1"/>
          <p:nvPr/>
        </p:nvSpPr>
        <p:spPr>
          <a:xfrm>
            <a:off x="10066464" y="233628"/>
            <a:ext cx="132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 </a:t>
            </a:r>
            <a:r>
              <a:rPr lang="fr-CH" dirty="0" err="1"/>
              <a:t>MIP:Lab</a:t>
            </a:r>
            <a:endParaRPr lang="fr-CH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FB7CB60-8C69-1145-C2B4-7305A638E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24</a:t>
            </a:fld>
            <a:endParaRPr lang="en-US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B80A356-C050-3899-6D3A-190233727CAF}"/>
              </a:ext>
            </a:extLst>
          </p:cNvPr>
          <p:cNvSpPr txBox="1"/>
          <p:nvPr/>
        </p:nvSpPr>
        <p:spPr>
          <a:xfrm>
            <a:off x="700635" y="1698772"/>
            <a:ext cx="9188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RSA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A2084E5-422A-4A26-68E4-4EECDBE5D49C}"/>
              </a:ext>
            </a:extLst>
          </p:cNvPr>
          <p:cNvSpPr txBox="1"/>
          <p:nvPr/>
        </p:nvSpPr>
        <p:spPr>
          <a:xfrm>
            <a:off x="1929246" y="2905780"/>
            <a:ext cx="6608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The use of </a:t>
            </a:r>
            <a:r>
              <a:rPr lang="fr-FR" sz="1400" b="1" dirty="0" err="1"/>
              <a:t>pearson</a:t>
            </a:r>
            <a:r>
              <a:rPr lang="fr-FR" sz="1400" b="1" dirty="0"/>
              <a:t> </a:t>
            </a:r>
            <a:r>
              <a:rPr lang="fr-FR" sz="1400" b="1" dirty="0" err="1"/>
              <a:t>correlation</a:t>
            </a:r>
            <a:r>
              <a:rPr lang="fr-FR" sz="1400" b="1" dirty="0"/>
              <a:t> </a:t>
            </a:r>
            <a:r>
              <a:rPr lang="fr-FR" sz="1400" dirty="0"/>
              <a:t>as a </a:t>
            </a:r>
            <a:r>
              <a:rPr lang="fr-FR" sz="1400" b="1" dirty="0" err="1"/>
              <a:t>similiarty</a:t>
            </a:r>
            <a:r>
              <a:rPr lang="fr-FR" sz="1400" b="1" dirty="0"/>
              <a:t> </a:t>
            </a:r>
            <a:r>
              <a:rPr lang="fr-FR" sz="1400" b="1" dirty="0" err="1"/>
              <a:t>measure</a:t>
            </a:r>
            <a:r>
              <a:rPr lang="fr-FR" sz="1400" b="1" dirty="0"/>
              <a:t> </a:t>
            </a:r>
            <a:r>
              <a:rPr lang="fr-FR" sz="1400" dirty="0" err="1"/>
              <a:t>is</a:t>
            </a:r>
            <a:r>
              <a:rPr lang="fr-FR" sz="1400" dirty="0"/>
              <a:t> </a:t>
            </a:r>
            <a:r>
              <a:rPr lang="fr-FR" sz="1400" b="1" dirty="0" err="1"/>
              <a:t>debatable</a:t>
            </a:r>
            <a:r>
              <a:rPr lang="fr-FR" sz="1400" dirty="0"/>
              <a:t> and one </a:t>
            </a:r>
            <a:r>
              <a:rPr lang="fr-FR" sz="1400" dirty="0" err="1"/>
              <a:t>should</a:t>
            </a:r>
            <a:r>
              <a:rPr lang="fr-FR" sz="1400" dirty="0"/>
              <a:t> </a:t>
            </a:r>
            <a:r>
              <a:rPr lang="fr-FR" sz="1400" dirty="0" err="1"/>
              <a:t>be</a:t>
            </a:r>
            <a:r>
              <a:rPr lang="fr-FR" sz="1400" dirty="0"/>
              <a:t> </a:t>
            </a:r>
            <a:r>
              <a:rPr lang="fr-FR" sz="1400" dirty="0" err="1"/>
              <a:t>cautious</a:t>
            </a:r>
            <a:r>
              <a:rPr lang="fr-FR" sz="1400" b="1" dirty="0"/>
              <a:t> </a:t>
            </a:r>
            <a:r>
              <a:rPr lang="fr-FR" sz="1400" dirty="0" err="1"/>
              <a:t>when</a:t>
            </a:r>
            <a:r>
              <a:rPr lang="fr-FR" sz="1400" dirty="0"/>
              <a:t> </a:t>
            </a:r>
            <a:r>
              <a:rPr lang="fr-FR" sz="1400" dirty="0" err="1"/>
              <a:t>drawing</a:t>
            </a:r>
            <a:r>
              <a:rPr lang="fr-FR" sz="1400" dirty="0"/>
              <a:t> conclusions </a:t>
            </a:r>
            <a:r>
              <a:rPr lang="fr-FR" sz="1400" dirty="0" err="1"/>
              <a:t>from</a:t>
            </a:r>
            <a:r>
              <a:rPr lang="fr-FR" sz="1400" dirty="0"/>
              <a:t> RSA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C40CABA-4952-17B3-4F69-AB9C168EFE81}"/>
              </a:ext>
            </a:extLst>
          </p:cNvPr>
          <p:cNvSpPr txBox="1"/>
          <p:nvPr/>
        </p:nvSpPr>
        <p:spPr>
          <a:xfrm>
            <a:off x="1929246" y="2225520"/>
            <a:ext cx="6608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The data </a:t>
            </a:r>
            <a:r>
              <a:rPr lang="fr-FR" sz="1400" dirty="0" err="1"/>
              <a:t>doesn’t</a:t>
            </a:r>
            <a:r>
              <a:rPr lang="fr-FR" sz="1400" dirty="0"/>
              <a:t> show a </a:t>
            </a:r>
            <a:r>
              <a:rPr lang="fr-FR" sz="1400" dirty="0" err="1"/>
              <a:t>significant</a:t>
            </a:r>
            <a:r>
              <a:rPr lang="fr-FR" sz="1400" dirty="0"/>
              <a:t> </a:t>
            </a:r>
            <a:r>
              <a:rPr lang="fr-FR" sz="1400" dirty="0" err="1"/>
              <a:t>correlation</a:t>
            </a:r>
            <a:r>
              <a:rPr lang="fr-FR" sz="1400" dirty="0"/>
              <a:t> </a:t>
            </a:r>
            <a:r>
              <a:rPr lang="fr-FR" sz="1400" dirty="0" err="1"/>
              <a:t>between</a:t>
            </a:r>
            <a:r>
              <a:rPr lang="fr-FR" sz="1400" dirty="0"/>
              <a:t> the </a:t>
            </a:r>
            <a:r>
              <a:rPr lang="fr-FR" sz="1400" b="1" dirty="0"/>
              <a:t>subjective spatial </a:t>
            </a:r>
            <a:r>
              <a:rPr lang="fr-FR" sz="1400" b="1" dirty="0" err="1"/>
              <a:t>map</a:t>
            </a:r>
            <a:r>
              <a:rPr lang="fr-FR" sz="1400" b="1" dirty="0"/>
              <a:t> </a:t>
            </a:r>
            <a:r>
              <a:rPr lang="fr-FR" sz="1400" dirty="0"/>
              <a:t>of participants and </a:t>
            </a:r>
            <a:r>
              <a:rPr lang="fr-FR" sz="1400" dirty="0" err="1"/>
              <a:t>their</a:t>
            </a:r>
            <a:r>
              <a:rPr lang="fr-FR" sz="1400" dirty="0"/>
              <a:t> </a:t>
            </a:r>
            <a:r>
              <a:rPr lang="fr-FR" sz="1400" b="1" dirty="0" err="1"/>
              <a:t>hippocampal</a:t>
            </a:r>
            <a:r>
              <a:rPr lang="fr-FR" sz="1400" b="1" dirty="0"/>
              <a:t> </a:t>
            </a:r>
            <a:r>
              <a:rPr lang="fr-FR" sz="1400" b="1" dirty="0" err="1"/>
              <a:t>response</a:t>
            </a:r>
            <a:endParaRPr lang="fr-FR" sz="1400" b="1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FAE14AB-83FD-CEFE-E1A7-630B8A7D7B19}"/>
              </a:ext>
            </a:extLst>
          </p:cNvPr>
          <p:cNvSpPr txBox="1"/>
          <p:nvPr/>
        </p:nvSpPr>
        <p:spPr>
          <a:xfrm>
            <a:off x="700635" y="3429000"/>
            <a:ext cx="1063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GLM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60F6D57-6E08-0D70-B679-424840D3B4A9}"/>
              </a:ext>
            </a:extLst>
          </p:cNvPr>
          <p:cNvSpPr txBox="1"/>
          <p:nvPr/>
        </p:nvSpPr>
        <p:spPr>
          <a:xfrm>
            <a:off x="1929246" y="4027561"/>
            <a:ext cx="66086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At the group </a:t>
            </a:r>
            <a:r>
              <a:rPr lang="fr-FR" sz="1400" dirty="0" err="1"/>
              <a:t>level</a:t>
            </a:r>
            <a:r>
              <a:rPr lang="fr-FR" sz="1400" dirty="0"/>
              <a:t> </a:t>
            </a:r>
            <a:r>
              <a:rPr lang="fr-FR" sz="1400" b="1" dirty="0"/>
              <a:t>no </a:t>
            </a:r>
            <a:r>
              <a:rPr lang="fr-FR" sz="1400" b="1" dirty="0" err="1"/>
              <a:t>significant</a:t>
            </a:r>
            <a:r>
              <a:rPr lang="fr-FR" sz="1400" b="1" dirty="0"/>
              <a:t> distinction </a:t>
            </a:r>
            <a:r>
              <a:rPr lang="fr-FR" sz="1400" dirty="0" err="1"/>
              <a:t>is</a:t>
            </a:r>
            <a:r>
              <a:rPr lang="fr-FR" sz="1400" dirty="0"/>
              <a:t> </a:t>
            </a:r>
            <a:r>
              <a:rPr lang="fr-FR" sz="1400" dirty="0" err="1"/>
              <a:t>observed</a:t>
            </a:r>
            <a:r>
              <a:rPr lang="fr-FR" sz="1400" dirty="0"/>
              <a:t> </a:t>
            </a:r>
            <a:r>
              <a:rPr lang="fr-FR" sz="1400" b="1" dirty="0" err="1"/>
              <a:t>between</a:t>
            </a:r>
            <a:r>
              <a:rPr lang="fr-FR" sz="1400" b="1" dirty="0"/>
              <a:t> new and </a:t>
            </a:r>
            <a:r>
              <a:rPr lang="fr-FR" sz="1400" b="1" dirty="0" err="1"/>
              <a:t>old</a:t>
            </a:r>
            <a:r>
              <a:rPr lang="fr-FR" sz="1400" b="1" dirty="0"/>
              <a:t> stimuli </a:t>
            </a:r>
            <a:r>
              <a:rPr lang="fr-FR" sz="1400" b="1" dirty="0" err="1"/>
              <a:t>responses</a:t>
            </a:r>
            <a:r>
              <a:rPr lang="fr-FR" sz="1400" dirty="0"/>
              <a:t>, </a:t>
            </a:r>
            <a:r>
              <a:rPr lang="fr-FR" sz="1400" dirty="0" err="1"/>
              <a:t>with</a:t>
            </a:r>
            <a:r>
              <a:rPr lang="fr-FR" sz="1400" dirty="0"/>
              <a:t> or </a:t>
            </a:r>
            <a:r>
              <a:rPr lang="fr-FR" sz="1400" dirty="0" err="1"/>
              <a:t>without</a:t>
            </a:r>
            <a:r>
              <a:rPr lang="fr-FR" sz="1400" dirty="0"/>
              <a:t> </a:t>
            </a:r>
            <a:r>
              <a:rPr lang="fr-FR" sz="1400" dirty="0" err="1"/>
              <a:t>smoothing</a:t>
            </a:r>
            <a:r>
              <a:rPr lang="fr-FR" sz="1400" dirty="0"/>
              <a:t> and at the </a:t>
            </a:r>
            <a:r>
              <a:rPr lang="fr-FR" sz="1400" dirty="0" err="1"/>
              <a:t>whole</a:t>
            </a:r>
            <a:r>
              <a:rPr lang="fr-FR" sz="1400" dirty="0"/>
              <a:t> </a:t>
            </a:r>
            <a:r>
              <a:rPr lang="fr-FR" sz="1400" dirty="0" err="1"/>
              <a:t>brain</a:t>
            </a:r>
            <a:r>
              <a:rPr lang="fr-FR" sz="1400" dirty="0"/>
              <a:t> </a:t>
            </a:r>
            <a:r>
              <a:rPr lang="fr-FR" sz="1400" dirty="0" err="1"/>
              <a:t>level</a:t>
            </a:r>
            <a:r>
              <a:rPr lang="fr-FR" sz="1400" dirty="0"/>
              <a:t> or at the </a:t>
            </a:r>
            <a:r>
              <a:rPr lang="fr-FR" sz="1400" dirty="0" err="1"/>
              <a:t>hippocampus</a:t>
            </a:r>
            <a:r>
              <a:rPr lang="fr-FR" sz="1400" dirty="0"/>
              <a:t> </a:t>
            </a:r>
            <a:r>
              <a:rPr lang="fr-FR" sz="1400" dirty="0" err="1"/>
              <a:t>level</a:t>
            </a:r>
            <a:endParaRPr lang="fr-FR" sz="1400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F0AF3CE-6C92-B2C3-057A-1BCB2091F26A}"/>
              </a:ext>
            </a:extLst>
          </p:cNvPr>
          <p:cNvSpPr txBox="1"/>
          <p:nvPr/>
        </p:nvSpPr>
        <p:spPr>
          <a:xfrm>
            <a:off x="1929246" y="4845417"/>
            <a:ext cx="6608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err="1"/>
              <a:t>Although</a:t>
            </a:r>
            <a:r>
              <a:rPr lang="fr-FR" sz="1400" dirty="0"/>
              <a:t> </a:t>
            </a:r>
            <a:r>
              <a:rPr lang="fr-FR" sz="1400" b="1" dirty="0" err="1"/>
              <a:t>significant</a:t>
            </a:r>
            <a:r>
              <a:rPr lang="fr-FR" sz="1400" dirty="0"/>
              <a:t> distinction </a:t>
            </a:r>
            <a:r>
              <a:rPr lang="fr-FR" sz="1400" dirty="0" err="1"/>
              <a:t>between</a:t>
            </a:r>
            <a:r>
              <a:rPr lang="fr-FR" sz="1400" dirty="0"/>
              <a:t> </a:t>
            </a:r>
            <a:r>
              <a:rPr lang="fr-FR" sz="1400" b="1" dirty="0"/>
              <a:t>faces and </a:t>
            </a:r>
            <a:r>
              <a:rPr lang="fr-FR" sz="1400" b="1" dirty="0" err="1"/>
              <a:t>objects</a:t>
            </a:r>
            <a:r>
              <a:rPr lang="fr-FR" sz="1400" b="1" dirty="0"/>
              <a:t> </a:t>
            </a:r>
            <a:r>
              <a:rPr lang="fr-FR" sz="1400" dirty="0" err="1"/>
              <a:t>is</a:t>
            </a:r>
            <a:r>
              <a:rPr lang="fr-FR" sz="1400" dirty="0"/>
              <a:t> </a:t>
            </a:r>
            <a:r>
              <a:rPr lang="fr-FR" sz="1400" dirty="0" err="1"/>
              <a:t>observed</a:t>
            </a:r>
            <a:r>
              <a:rPr lang="fr-FR" sz="1400" dirty="0"/>
              <a:t> </a:t>
            </a:r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080A3530-D9B4-EC36-622C-DB5CA2882257}"/>
              </a:ext>
            </a:extLst>
          </p:cNvPr>
          <p:cNvCxnSpPr>
            <a:cxnSpLocks/>
          </p:cNvCxnSpPr>
          <p:nvPr/>
        </p:nvCxnSpPr>
        <p:spPr>
          <a:xfrm>
            <a:off x="8537865" y="2129260"/>
            <a:ext cx="7703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B7FBA1E8-6BD5-94D5-BAE7-6DE745AA6521}"/>
              </a:ext>
            </a:extLst>
          </p:cNvPr>
          <p:cNvCxnSpPr>
            <a:cxnSpLocks/>
          </p:cNvCxnSpPr>
          <p:nvPr/>
        </p:nvCxnSpPr>
        <p:spPr>
          <a:xfrm>
            <a:off x="8537865" y="2593388"/>
            <a:ext cx="7703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7039FA1B-ED18-C8D4-4237-1B1DA41AB720}"/>
              </a:ext>
            </a:extLst>
          </p:cNvPr>
          <p:cNvSpPr txBox="1"/>
          <p:nvPr/>
        </p:nvSpPr>
        <p:spPr>
          <a:xfrm>
            <a:off x="9413817" y="1969487"/>
            <a:ext cx="2627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 err="1"/>
              <a:t>Different</a:t>
            </a:r>
            <a:r>
              <a:rPr lang="fr-FR" sz="1100" dirty="0"/>
              <a:t> Distance </a:t>
            </a:r>
            <a:r>
              <a:rPr lang="fr-FR" sz="1100" dirty="0" err="1"/>
              <a:t>metric</a:t>
            </a:r>
            <a:r>
              <a:rPr lang="fr-FR" sz="1100" dirty="0"/>
              <a:t> as </a:t>
            </a:r>
            <a:r>
              <a:rPr lang="fr-FR" sz="1100" dirty="0" err="1"/>
              <a:t>deuker</a:t>
            </a:r>
            <a:r>
              <a:rPr lang="fr-FR" sz="1100" dirty="0"/>
              <a:t> et al.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A355A1F0-C007-2A48-C392-2AF302A6C4F9}"/>
              </a:ext>
            </a:extLst>
          </p:cNvPr>
          <p:cNvSpPr txBox="1"/>
          <p:nvPr/>
        </p:nvSpPr>
        <p:spPr>
          <a:xfrm>
            <a:off x="9413817" y="2426809"/>
            <a:ext cx="24817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/>
              <a:t>Data </a:t>
            </a:r>
            <a:r>
              <a:rPr lang="fr-FR" sz="1100" dirty="0" err="1"/>
              <a:t>preprocessing</a:t>
            </a:r>
            <a:r>
              <a:rPr lang="fr-FR" sz="1100" dirty="0"/>
              <a:t> and GLM </a:t>
            </a:r>
            <a:r>
              <a:rPr lang="fr-FR" sz="1100" dirty="0" err="1"/>
              <a:t>analysis</a:t>
            </a:r>
            <a:endParaRPr lang="fr-FR" sz="1100" dirty="0"/>
          </a:p>
        </p:txBody>
      </p: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044B71F7-C510-F057-5FDC-4F835A2354F7}"/>
              </a:ext>
            </a:extLst>
          </p:cNvPr>
          <p:cNvCxnSpPr>
            <a:cxnSpLocks/>
          </p:cNvCxnSpPr>
          <p:nvPr/>
        </p:nvCxnSpPr>
        <p:spPr>
          <a:xfrm>
            <a:off x="8537864" y="4221524"/>
            <a:ext cx="7703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3334E1E5-580C-A554-747A-26ADA3C16632}"/>
              </a:ext>
            </a:extLst>
          </p:cNvPr>
          <p:cNvSpPr txBox="1"/>
          <p:nvPr/>
        </p:nvSpPr>
        <p:spPr>
          <a:xfrm>
            <a:off x="9413817" y="4054945"/>
            <a:ext cx="24817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It </a:t>
            </a:r>
            <a:r>
              <a:rPr lang="fr-FR" sz="1100" dirty="0" err="1"/>
              <a:t>is</a:t>
            </a:r>
            <a:r>
              <a:rPr lang="fr-FR" sz="1100" dirty="0"/>
              <a:t> a Picture </a:t>
            </a:r>
            <a:r>
              <a:rPr lang="fr-FR" sz="1100" dirty="0" err="1"/>
              <a:t>Viewing</a:t>
            </a:r>
            <a:r>
              <a:rPr lang="fr-FR" sz="1100" dirty="0"/>
              <a:t> </a:t>
            </a:r>
            <a:r>
              <a:rPr lang="fr-FR" sz="1100" dirty="0" err="1"/>
              <a:t>Task</a:t>
            </a:r>
            <a:r>
              <a:rPr lang="fr-FR" sz="1100" dirty="0"/>
              <a:t> and not a Memory </a:t>
            </a:r>
            <a:r>
              <a:rPr lang="fr-FR" sz="1100" dirty="0" err="1"/>
              <a:t>Task</a:t>
            </a:r>
            <a:endParaRPr lang="fr-FR" sz="1100" dirty="0"/>
          </a:p>
        </p:txBody>
      </p: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62CC58B8-0016-47E9-2790-DC30D8AF1944}"/>
              </a:ext>
            </a:extLst>
          </p:cNvPr>
          <p:cNvCxnSpPr>
            <a:cxnSpLocks/>
          </p:cNvCxnSpPr>
          <p:nvPr/>
        </p:nvCxnSpPr>
        <p:spPr>
          <a:xfrm>
            <a:off x="8537865" y="1660671"/>
            <a:ext cx="7703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id="{7306D9C1-2066-B5EA-56A6-EF7C314777F2}"/>
              </a:ext>
            </a:extLst>
          </p:cNvPr>
          <p:cNvSpPr txBox="1"/>
          <p:nvPr/>
        </p:nvSpPr>
        <p:spPr>
          <a:xfrm>
            <a:off x="9413817" y="1500898"/>
            <a:ext cx="27781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err="1"/>
              <a:t>Additional</a:t>
            </a:r>
            <a:r>
              <a:rPr lang="fr-FR" sz="1100" dirty="0"/>
              <a:t> </a:t>
            </a:r>
            <a:r>
              <a:rPr lang="fr-FR" sz="1100" dirty="0" err="1"/>
              <a:t>ordering</a:t>
            </a:r>
            <a:r>
              <a:rPr lang="fr-FR" sz="1100" dirty="0"/>
              <a:t> </a:t>
            </a:r>
            <a:r>
              <a:rPr lang="fr-FR" sz="1100" dirty="0" err="1"/>
              <a:t>effects</a:t>
            </a:r>
            <a:r>
              <a:rPr lang="fr-FR" sz="1100" dirty="0"/>
              <a:t> and </a:t>
            </a:r>
            <a:r>
              <a:rPr lang="fr-FR" sz="1100" dirty="0" err="1"/>
              <a:t>less</a:t>
            </a:r>
            <a:r>
              <a:rPr lang="fr-FR" sz="1100" dirty="0"/>
              <a:t> </a:t>
            </a:r>
            <a:r>
              <a:rPr lang="fr-FR" sz="1100" dirty="0" err="1"/>
              <a:t>repetitions</a:t>
            </a:r>
            <a:r>
              <a:rPr lang="fr-FR" sz="1100" dirty="0"/>
              <a:t> (6 </a:t>
            </a:r>
            <a:r>
              <a:rPr lang="fr-FR" sz="1100" dirty="0" err="1"/>
              <a:t>against</a:t>
            </a:r>
            <a:r>
              <a:rPr lang="fr-FR" sz="1100" dirty="0"/>
              <a:t> 12 for </a:t>
            </a:r>
            <a:r>
              <a:rPr lang="fr-FR" sz="1100" dirty="0" err="1"/>
              <a:t>deuker</a:t>
            </a:r>
            <a:r>
              <a:rPr lang="fr-FR" sz="1100" dirty="0"/>
              <a:t> et al</a:t>
            </a:r>
            <a:r>
              <a:rPr lang="fr-FR" sz="1100" dirty="0">
                <a:sym typeface="Wingdings" pitchFamily="2" charset="2"/>
              </a:rPr>
              <a:t>.)</a:t>
            </a:r>
            <a:endParaRPr lang="fr-FR" sz="1100" dirty="0"/>
          </a:p>
        </p:txBody>
      </p: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1E82B65A-C095-7E53-DC9F-8B6BDD433443}"/>
              </a:ext>
            </a:extLst>
          </p:cNvPr>
          <p:cNvCxnSpPr>
            <a:cxnSpLocks/>
          </p:cNvCxnSpPr>
          <p:nvPr/>
        </p:nvCxnSpPr>
        <p:spPr>
          <a:xfrm>
            <a:off x="8537864" y="1262353"/>
            <a:ext cx="7703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241B87F3-A8E7-A087-0A1D-B3D77BE220E4}"/>
              </a:ext>
            </a:extLst>
          </p:cNvPr>
          <p:cNvSpPr txBox="1"/>
          <p:nvPr/>
        </p:nvSpPr>
        <p:spPr>
          <a:xfrm>
            <a:off x="9413817" y="1122469"/>
            <a:ext cx="27781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More trials to </a:t>
            </a:r>
            <a:r>
              <a:rPr lang="fr-FR" sz="1100" dirty="0" err="1"/>
              <a:t>remember</a:t>
            </a:r>
            <a:r>
              <a:rPr lang="fr-FR" sz="1100" dirty="0"/>
              <a:t> (48 vs. 16)</a:t>
            </a:r>
          </a:p>
        </p:txBody>
      </p:sp>
    </p:spTree>
    <p:extLst>
      <p:ext uri="{BB962C8B-B14F-4D97-AF65-F5344CB8AC3E}">
        <p14:creationId xmlns:p14="http://schemas.microsoft.com/office/powerpoint/2010/main" val="129531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21" grpId="0"/>
      <p:bldP spid="22" grpId="0"/>
      <p:bldP spid="23" grpId="0"/>
      <p:bldP spid="30" grpId="0"/>
      <p:bldP spid="31" grpId="0"/>
      <p:bldP spid="33" grpId="0"/>
      <p:bldP spid="35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38A7ECA-C7F1-EA40-F700-A4744B7F2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2" y="960594"/>
            <a:ext cx="5828114" cy="49368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000"/>
              <a:t>Thank you!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7F0BDD1-D172-13EF-30C0-17B0B9EFA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7E7843D-FF13-4365-9478-9625B70A270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25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315200" y="1733549"/>
            <a:ext cx="0" cy="3390901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Maria Giulia Preti">
            <a:extLst>
              <a:ext uri="{FF2B5EF4-FFF2-40B4-BE49-F238E27FC236}">
                <a16:creationId xmlns:a16="http://schemas.microsoft.com/office/drawing/2014/main" id="{88FD7DF6-51AC-DACB-89CE-724C045E5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0321" y="812801"/>
            <a:ext cx="1270000" cy="127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BD82190C-A3C4-F507-3C86-484632CD7BD5}"/>
              </a:ext>
            </a:extLst>
          </p:cNvPr>
          <p:cNvSpPr txBox="1"/>
          <p:nvPr/>
        </p:nvSpPr>
        <p:spPr>
          <a:xfrm>
            <a:off x="9130077" y="2419394"/>
            <a:ext cx="2010487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fr-CH" sz="1200" b="1" dirty="0"/>
              <a:t>Maria Giulia Preti</a:t>
            </a:r>
          </a:p>
          <a:p>
            <a:pPr algn="ctr"/>
            <a:r>
              <a:rPr lang="fr-CH" sz="1200" dirty="0"/>
              <a:t>Senior </a:t>
            </a:r>
            <a:r>
              <a:rPr lang="fr-CH" sz="1200" dirty="0" err="1"/>
              <a:t>Scientist</a:t>
            </a:r>
            <a:r>
              <a:rPr lang="fr-CH" sz="1200" dirty="0"/>
              <a:t> at MIPLAB</a:t>
            </a:r>
            <a:endParaRPr lang="fr-FR" dirty="0"/>
          </a:p>
        </p:txBody>
      </p:sp>
      <p:pic>
        <p:nvPicPr>
          <p:cNvPr id="7" name="Picture 2" descr="Alison Montagrin">
            <a:extLst>
              <a:ext uri="{FF2B5EF4-FFF2-40B4-BE49-F238E27FC236}">
                <a16:creationId xmlns:a16="http://schemas.microsoft.com/office/drawing/2014/main" id="{6032A146-5B63-139A-6BAB-E5A373AD4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2584" y="3724902"/>
            <a:ext cx="1446428" cy="1446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3">
            <a:extLst>
              <a:ext uri="{FF2B5EF4-FFF2-40B4-BE49-F238E27FC236}">
                <a16:creationId xmlns:a16="http://schemas.microsoft.com/office/drawing/2014/main" id="{21581A48-712D-D304-2F97-ACE097661BC9}"/>
              </a:ext>
            </a:extLst>
          </p:cNvPr>
          <p:cNvSpPr txBox="1"/>
          <p:nvPr/>
        </p:nvSpPr>
        <p:spPr>
          <a:xfrm>
            <a:off x="9097838" y="5419709"/>
            <a:ext cx="2195921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fr-CH" sz="1200" b="1" dirty="0"/>
              <a:t>Alison </a:t>
            </a:r>
            <a:r>
              <a:rPr lang="fr-CH" sz="1200" b="1" dirty="0" err="1"/>
              <a:t>Montagrin</a:t>
            </a:r>
            <a:endParaRPr lang="fr-CH" sz="1200" b="1" dirty="0"/>
          </a:p>
          <a:p>
            <a:pPr algn="ctr"/>
            <a:r>
              <a:rPr lang="fr-CH" sz="1200" dirty="0"/>
              <a:t>Assistant Schwartz </a:t>
            </a:r>
            <a:r>
              <a:rPr lang="fr-CH" sz="1200" dirty="0" err="1"/>
              <a:t>Laboratory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87560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41BFA31-6544-45C2-9DA0-9E1C5E0B1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82962ED-D2DF-C7F8-ECAE-BFC5AC185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4742029"/>
            <a:ext cx="10765912" cy="9259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Supplementary Slides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448B757B-7248-4567-2EBC-B19CF7B0D5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22538" y="723899"/>
            <a:ext cx="4812135" cy="358421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3F56813-A811-007B-987E-28C77C915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812" y="723899"/>
            <a:ext cx="4731632" cy="358421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C36F877-5419-44C1-A2CD-376BDDDC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4667603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36AF2F-F9B5-867B-CFC9-4DC27B79C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7E7843D-FF13-4365-9478-9625B70A270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0382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41BFA31-6544-45C2-9DA0-9E1C5E0B1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E0F61FE-9907-0891-C631-DC72E8673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4742029"/>
            <a:ext cx="10765912" cy="9259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Supplementary Slides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6DCF5A3-D201-038B-6BDC-E4DAD9A3C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040" y="723899"/>
            <a:ext cx="4731632" cy="358421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68BAFDD-CF23-5A84-28F5-781C447C3C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812" y="723899"/>
            <a:ext cx="4704276" cy="358421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C36F877-5419-44C1-A2CD-376BDDDC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4667603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0706CC1-6334-62C2-58DB-83E395D7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7E7843D-FF13-4365-9478-9625B70A270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36949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2874</TotalTime>
  <Words>1248</Words>
  <Application>Microsoft Macintosh PowerPoint</Application>
  <PresentationFormat>Grand écran</PresentationFormat>
  <Paragraphs>270</Paragraphs>
  <Slides>27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3" baseType="lpstr">
      <vt:lpstr>Aptos</vt:lpstr>
      <vt:lpstr>Arial</vt:lpstr>
      <vt:lpstr>Calisto MT</vt:lpstr>
      <vt:lpstr>Univers Condensed</vt:lpstr>
      <vt:lpstr>Wingdings</vt:lpstr>
      <vt:lpstr>ChronicleVTI</vt:lpstr>
      <vt:lpstr>The role of the hippocampus in tracking personal goals </vt:lpstr>
      <vt:lpstr>Background</vt:lpstr>
      <vt:lpstr>Background</vt:lpstr>
      <vt:lpstr>The island Experiment : Intro</vt:lpstr>
      <vt:lpstr>The island Experiment : Intro</vt:lpstr>
      <vt:lpstr>The island Experiment : Intro</vt:lpstr>
      <vt:lpstr>The island Experiment : Intro</vt:lpstr>
      <vt:lpstr>The island Experiment : Intro</vt:lpstr>
      <vt:lpstr>The island Experiment : Intro</vt:lpstr>
      <vt:lpstr>The island Experiment : Intro</vt:lpstr>
      <vt:lpstr>Methods : Deuker et al. RSA</vt:lpstr>
      <vt:lpstr>Methods : Model Matrix</vt:lpstr>
      <vt:lpstr>Methods : Neuronal Matrix</vt:lpstr>
      <vt:lpstr>Methods : Deuker et al. RSA</vt:lpstr>
      <vt:lpstr>Results </vt:lpstr>
      <vt:lpstr>Results : Median Split </vt:lpstr>
      <vt:lpstr>Results : Pearson vs euclidean</vt:lpstr>
      <vt:lpstr>Results : Pearson vs euclidean</vt:lpstr>
      <vt:lpstr>Results : Pearson vs euclidean</vt:lpstr>
      <vt:lpstr>Results : Back to the GLM</vt:lpstr>
      <vt:lpstr>Results : Back to the GLM</vt:lpstr>
      <vt:lpstr>Results : Back to the GLM</vt:lpstr>
      <vt:lpstr>Results : Back to the GLM</vt:lpstr>
      <vt:lpstr>Conclusions</vt:lpstr>
      <vt:lpstr>Thank you!</vt:lpstr>
      <vt:lpstr>Supplementary Slides</vt:lpstr>
      <vt:lpstr>Supplementary Slides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Oskar Boesch</dc:creator>
  <cp:lastModifiedBy>Oskar Boesch</cp:lastModifiedBy>
  <cp:revision>3</cp:revision>
  <dcterms:created xsi:type="dcterms:W3CDTF">2025-10-02T07:36:27Z</dcterms:created>
  <dcterms:modified xsi:type="dcterms:W3CDTF">2025-11-04T15:03:38Z</dcterms:modified>
</cp:coreProperties>
</file>